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LithoBooster ダッシュボード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画面イメージ（モックアップ）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アライメント計測結果とShot補正制御の可視化｜Vertica DirectQuery｜Power BI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85876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379476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385876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面内傾向 Waferマップ（Canon）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379476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83880" y="385876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Shot補正詳細・補正前想定（Canon）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75488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81888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34840" y="475488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481888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補正マップ / 高次係数（Nikon）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4754880"/>
            <a:ext cx="338328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83880" y="481888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
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グラフはダミーデータによる表示例です（実データではありません）　2026/07/05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カテゴリ別傾向と時系列の早期検知（V-01/04/05/06/07/08/09/10）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ML01MF +2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16.8 nm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残差RMS X（期間内）</a:t>
            </a:r>
            <a:pPr indent="0" marL="0">
              <a:buNone/>
            </a:pP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25696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8848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15.2 nm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4498848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残差RMS Y（期間内）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931152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04304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26.3 %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7004304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判定=0 比率</a:t>
            </a:r>
            <a:pPr indent="0" marL="0">
              <a:buNone/>
            </a:pPr>
            <a:r>
              <a:rPr lang="en-US" sz="8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▲+1.2pt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436608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0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94 枚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509760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計測Wafer数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920240" y="1901952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193852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V-06｜線形成分トレンド（号機別・管理限界線つき）</a:t>
            </a:r>
            <a:endParaRPr lang="en-US" sz="900" dirty="0"/>
          </a:p>
        </p:txBody>
      </p:sp>
      <p:pic>
        <p:nvPicPr>
          <p:cNvPr id="38" name="Image 0" descr="/private/tmp/claude-501/-Users-sakamoto-04---------ClaudeCode-GitHub-PowerBI-LithoBooster-DashBoard/1d2ed9c0-fbf9-4130-80df-0e37d1e3ada0/scratchpad/charts/p1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5705856" cy="1901952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7882128" y="1901952"/>
            <a:ext cx="39593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955280" y="193852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V-01｜残差RMSの号機別分布（比較軸切替）</a:t>
            </a:r>
            <a:endParaRPr lang="en-US" sz="900" dirty="0"/>
          </a:p>
        </p:txBody>
      </p:sp>
      <p:pic>
        <p:nvPicPr>
          <p:cNvPr id="41" name="Image 1" descr="/private/tmp/claude-501/-Users-sakamoto-04---------ClaudeCode-GitHub-PowerBI-LithoBooster-DashBoard/1d2ed9c0-fbf9-4130-80df-0e37d1e3ada0/scratchpad/charts/p1_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2194560"/>
            <a:ext cx="3813048" cy="1901952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1920240" y="4279392"/>
            <a:ext cx="585216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1993392" y="431596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V-09｜装置×日付ヒートマップ（異常の早期発見）</a:t>
            </a:r>
            <a:endParaRPr lang="en-US" sz="900" dirty="0"/>
          </a:p>
        </p:txBody>
      </p:sp>
      <p:pic>
        <p:nvPicPr>
          <p:cNvPr id="44" name="Image 2" descr="/private/tmp/claude-501/-Users-sakamoto-04---------ClaudeCode-GitHub-PowerBI-LithoBooster-DashBoard/1d2ed9c0-fbf9-4130-80df-0e37d1e3ada0/scratchpad/charts/p1_hea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572000"/>
            <a:ext cx="5705856" cy="1792224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7882128" y="4279392"/>
            <a:ext cx="3959352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955280" y="431596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V-04｜計測判定のOPERATION別比率</a:t>
            </a:r>
            <a:endParaRPr lang="en-US" sz="900" dirty="0"/>
          </a:p>
        </p:txBody>
      </p:sp>
      <p:pic>
        <p:nvPicPr>
          <p:cNvPr id="47" name="Image 3" descr="/private/tmp/claude-501/-Users-sakamoto-04---------ClaudeCode-GitHub-PowerBI-LithoBooster-DashBoard/1d2ed9c0-fbf9-4130-80df-0e37d1e3ada0/scratchpad/charts/p1_ng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955280" y="4572000"/>
            <a:ext cx="3813048" cy="1792224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面内傾向 Waferマップ（Canon）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残差ベクトル・RMS・共分散楕円で面内を把握（V-11/12/13/15/22）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ML01MF +2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5BW975B22-01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V-11｜残差ベクトルマップ（1Wafer）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2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99816" cy="327355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25780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095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V-13｜Shot単位 残差RMSヒートマップ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2_rm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30952" y="1207008"/>
            <a:ext cx="3099816" cy="327355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859536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66851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V-22｜面内共分散楕円マップ（Wafer間ばらつき）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2_ellip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68512" y="1207008"/>
            <a:ext cx="3099816" cy="327355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1920240" y="4709160"/>
            <a:ext cx="5852160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011680" y="4754880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V-22 共分散楕円の見方</a:t>
            </a:r>
            <a:endParaRPr lang="en-US" sz="950" dirty="0"/>
          </a:p>
        </p:txBody>
      </p:sp>
      <p:sp>
        <p:nvSpPr>
          <p:cNvPr id="38" name="Text 33"/>
          <p:cNvSpPr/>
          <p:nvPr/>
        </p:nvSpPr>
        <p:spPr>
          <a:xfrm>
            <a:off x="2057400" y="5020056"/>
            <a:ext cx="557784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サイズ: Wafer間の分散が大きい位置ほど楕円が大きい（固有値の平方根×k、初期k=2）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傾き: θ = 0.5 × atan2(2·Cxy, Vx − Vy)。X/Y相関の向きに傾く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色: |相関係数 r| のカラースケール。濃い=X/Yが連動して変動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Wafer数3枚未満の位置は非表示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7882128" y="4709160"/>
            <a:ext cx="3959352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7973568" y="4754880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</a:t>
            </a:r>
            <a:endParaRPr lang="en-US" sz="950" dirty="0"/>
          </a:p>
        </p:txBody>
      </p:sp>
      <p:sp>
        <p:nvSpPr>
          <p:cNvPr id="41" name="Text 36"/>
          <p:cNvSpPr/>
          <p:nvPr/>
        </p:nvSpPr>
        <p:spPr>
          <a:xfrm>
            <a:off x="8019288" y="5020056"/>
            <a:ext cx="368503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V-11はWAFER選択スライサーで1枚に絞って描画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V-12（複数Wafer平均マップ）はブックマークで切替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Shotをクリック→P3へドリルスルー</a:t>
            </a:r>
            <a:endParaRPr lang="en-US" sz="950" dirty="0"/>
          </a:p>
        </p:txBody>
      </p:sp>
      <p:sp>
        <p:nvSpPr>
          <p:cNvPr id="42" name="Text 37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Shot補正詳細・補正前想定（Canon）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補正の効き方と補正前の想定状態（V-03/16/17）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ML01MF +2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5BW975B22-01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5943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5797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V-16｜補正前（想定）/ 補正後（実測）の切替表示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3_prep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5797296" cy="290779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7973568" y="914400"/>
            <a:ext cx="386791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046720" y="950976"/>
            <a:ext cx="3721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V-03｜Shot補正量のLot別比較（SEPA / SAME）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3_ba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46720" y="1207008"/>
            <a:ext cx="3721608" cy="181051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973568" y="3200400"/>
            <a:ext cx="386791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046720" y="3236976"/>
            <a:ext cx="3721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V-17｜補正効果の定量比較（補正前後RMS）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3_effec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3493008"/>
            <a:ext cx="3721608" cy="162763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1920240" y="4315968"/>
            <a:ext cx="5943600" cy="14173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011680" y="436168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注意（実装前に確認）</a:t>
            </a:r>
            <a:endParaRPr lang="en-US" sz="950" dirty="0"/>
          </a:p>
        </p:txBody>
      </p:sp>
      <p:sp>
        <p:nvSpPr>
          <p:cNvPr id="38" name="Text 33"/>
          <p:cNvSpPr/>
          <p:nvPr/>
        </p:nvSpPr>
        <p:spPr>
          <a:xfrm>
            <a:off x="2057400" y="4626864"/>
            <a:ext cx="5669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補正前の再構成式（足し戻しの符号規約・Mark位置での寄与計算）は装置エンジニアに確認 → issues.md I-009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トグル（補正あり/なし）はブックマークで実装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 / Shot線形成分の傾向と早期検知（V-02/03/05/06/08/09/10）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ML01MF +2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14.9 nm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WAFER_OFSET RMS</a:t>
            </a:r>
            <a:pPr indent="0" marL="0">
              <a:buNone/>
            </a:pP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25696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8848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0.48 ppm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4498848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WAFER_SCAL 平均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931152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04304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0.52 µrad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7004304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WAFER_ROT 平均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436608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0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 枚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509760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計測Wafer数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920240" y="1901952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193852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V-06｜Wafer線形成分トレンド（号機別・管理限界線つき）</a:t>
            </a:r>
            <a:endParaRPr lang="en-US" sz="900" dirty="0"/>
          </a:p>
        </p:txBody>
      </p:sp>
      <p:pic>
        <p:nvPicPr>
          <p:cNvPr id="38" name="Image 0" descr="/private/tmp/claude-501/-Users-sakamoto-04---------ClaudeCode-GitHub-PowerBI-LithoBooster-DashBoard/1d2ed9c0-fbf9-4130-80df-0e37d1e3ada0/scratchpad/charts/p4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5705856" cy="1901952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7882128" y="1901952"/>
            <a:ext cx="39593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955280" y="193852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V-02｜線形成分の号機別分布（比較軸切替）</a:t>
            </a:r>
            <a:endParaRPr lang="en-US" sz="900" dirty="0"/>
          </a:p>
        </p:txBody>
      </p:sp>
      <p:pic>
        <p:nvPicPr>
          <p:cNvPr id="41" name="Image 1" descr="/private/tmp/claude-501/-Users-sakamoto-04---------ClaudeCode-GitHub-PowerBI-LithoBooster-DashBoard/1d2ed9c0-fbf9-4130-80df-0e37d1e3ada0/scratchpad/charts/p4_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2194560"/>
            <a:ext cx="3813048" cy="1901952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1920240" y="4279392"/>
            <a:ext cx="585216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1993392" y="431596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V-09｜装置×日付ヒートマップ（補正量RMS）</a:t>
            </a:r>
            <a:endParaRPr lang="en-US" sz="900" dirty="0"/>
          </a:p>
        </p:txBody>
      </p:sp>
      <p:pic>
        <p:nvPicPr>
          <p:cNvPr id="44" name="Image 2" descr="/private/tmp/claude-501/-Users-sakamoto-04---------ClaudeCode-GitHub-PowerBI-LithoBooster-DashBoard/1d2ed9c0-fbf9-4130-80df-0e37d1e3ada0/scratchpad/charts/p4_hea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572000"/>
            <a:ext cx="5705856" cy="1792224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7882128" y="4279392"/>
            <a:ext cx="3959352" cy="2176272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973568" y="4325112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</a:t>
            </a:r>
            <a:endParaRPr lang="en-US" sz="950" dirty="0"/>
          </a:p>
        </p:txBody>
      </p:sp>
      <p:sp>
        <p:nvSpPr>
          <p:cNvPr id="47" name="Text 42"/>
          <p:cNvSpPr/>
          <p:nvPr/>
        </p:nvSpPr>
        <p:spPr>
          <a:xfrm>
            <a:off x="8019288" y="4590288"/>
            <a:ext cx="368503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比較軸（PROCESS / DEVICE_TYPE / EQPID / LOT）はフィールドパラメーターで切替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Lotをクリック→P5補正マップへドリルスルー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V-10 KPIカードは前期間比を表示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補正マップ / 高次係数（Nikon）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補正点ベクトルと高次補正係数（V-14/18/21）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ML01MF +2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5BW975B43-01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V-14｜補正点ベクトルマップ（成分切替）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5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99816" cy="327355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25780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095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V-18｜補正前想定マップ（線形+CORRDATA再構成）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5_pr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30952" y="1207008"/>
            <a:ext cx="3099816" cy="327355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8595360" y="914400"/>
            <a:ext cx="32461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66851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V-21｜SHOTFAC係数の大きさ比較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5_fac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68512" y="1207008"/>
            <a:ext cx="3099816" cy="199339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8595360" y="3383280"/>
            <a:ext cx="3246120" cy="1188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686800" y="342900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確認事項</a:t>
            </a:r>
            <a:endParaRPr lang="en-US" sz="950" dirty="0"/>
          </a:p>
        </p:txBody>
      </p:sp>
      <p:sp>
        <p:nvSpPr>
          <p:cNvPr id="38" name="Text 33"/>
          <p:cNvSpPr/>
          <p:nvPr/>
        </p:nvSpPr>
        <p:spPr>
          <a:xfrm>
            <a:off x="8732520" y="3694176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SHOTFAC番号と多項式次数の対応・単位は要確認 → I-002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1920240" y="4709160"/>
            <a:ext cx="9921240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2011680" y="4754880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操作・補足</a:t>
            </a:r>
            <a:endParaRPr lang="en-US" sz="950" dirty="0"/>
          </a:p>
        </p:txBody>
      </p:sp>
      <p:sp>
        <p:nvSpPr>
          <p:cNvPr id="41" name="Text 36"/>
          <p:cNvSpPr/>
          <p:nvPr/>
        </p:nvSpPr>
        <p:spPr>
          <a:xfrm>
            <a:off x="2057400" y="5020056"/>
            <a:ext cx="964692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表示成分（OFSET / SCAL / ROT）はスライサーで切替。矢印の倍率スケールはスライダーで調整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V-18の再構成式（CORRDATA適用の符号）は装置エンジニアに確認 → I-009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Wafer1枚選択で描画（DirectQuery負荷対策）</a:t>
            </a:r>
            <a:endParaRPr lang="en-US" sz="950" dirty="0"/>
          </a:p>
        </p:txBody>
      </p:sp>
      <p:sp>
        <p:nvSpPr>
          <p:cNvPr id="42" name="Text 37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全ShotをShot座標系に重ねてShot内の系統傾向を把握（V-19/21/23）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ML01MF +2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3200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V-19｜スタック平均ベクトル（Shot内の指紋）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6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54096" cy="327355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5212080" y="91440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950976"/>
            <a:ext cx="3374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V-23｜Mark位置ごとの共分散楕円</a:t>
            </a:r>
            <a:endParaRPr lang="en-US" sz="900" dirty="0"/>
          </a:p>
        </p:txBody>
      </p:sp>
      <p:pic>
        <p:nvPicPr>
          <p:cNvPr id="29" name="Image 1" descr="/private/tmp/claude-501/-Users-sakamoto-04---------ClaudeCode-GitHub-PowerBI-LithoBooster-DashBoard/1d2ed9c0-fbf9-4130-80df-0e37d1e3ada0/scratchpad/charts/p6_ellips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85232" y="1207008"/>
            <a:ext cx="3374136" cy="327355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823960" y="914400"/>
            <a:ext cx="3017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897112" y="950976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V-21｜Shot成分の再構成（倍率+回転）</a:t>
            </a:r>
            <a:endParaRPr lang="en-US" sz="900" dirty="0"/>
          </a:p>
        </p:txBody>
      </p:sp>
      <p:pic>
        <p:nvPicPr>
          <p:cNvPr id="32" name="Image 2" descr="/private/tmp/claude-501/-Users-sakamoto-04---------ClaudeCode-GitHub-PowerBI-LithoBooster-DashBoard/1d2ed9c0-fbf9-4130-80df-0e37d1e3ada0/scratchpad/charts/p6_shotcomp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97112" y="1207008"/>
            <a:ext cx="2871216" cy="3273552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1920240" y="4709160"/>
            <a:ext cx="9921240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2011680" y="4754880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スタックの定義と楕円の見方</a:t>
            </a:r>
            <a:endParaRPr lang="en-US" sz="950" dirty="0"/>
          </a:p>
        </p:txBody>
      </p:sp>
      <p:sp>
        <p:nvSpPr>
          <p:cNvPr id="35" name="Text 30"/>
          <p:cNvSpPr/>
          <p:nvPr/>
        </p:nvSpPr>
        <p:spPr>
          <a:xfrm>
            <a:off x="2057400" y="5020056"/>
            <a:ext cx="964692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スタック: 全Shot・全WaferのMark残差をShot中心原点の座標系に重ね、Mark位置ごとに集計（Wafer平均を差し引き）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V-23の楕円: サイズ=分散（固有値√×k）、傾き=X/Y相関の向き、色=|相関係数|。V-22と同じ規則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OPERATIONによりShotサイズ・Mark数（RDH: 4点 / MSR: 6点）が異なるため、OPERATION絞り込みは必須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付録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共分散楕円の読み方（V-22 / V-23）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1521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pic>
        <p:nvPicPr>
          <p:cNvPr id="5" name="Image 0" descr="/private/tmp/claude-501/-Users-sakamoto-04---------ClaudeCode-GitHub-PowerBI-LithoBooster-DashBoard/1d2ed9c0-fbf9-4130-80df-0e37d1e3ada0/scratchpad/charts/legend_ellip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005840"/>
            <a:ext cx="1069848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8463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共分散行列の固有値の平方根 × k を長軸・短軸にする（初期値 k = 2、2σ相当）。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Wafer間の分散が大きい位置ほど楕円が大きくなる。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9768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6227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傾き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6227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主軸方向 θ = 0.5 × atan2(2·Cxy, Vx − Vy)。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X/Yの相関の向きに応じて楕円が傾く。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7532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3991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3991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|相関係数 r| = |Cxy| / (σx·σy) をカラースケール（0〜1）に割り当て。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濃い色 = X/Y成分が連動して変動している場所。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62179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分散・共分散はDAXメジャーで算出し、楕円描画はDeneb（Vega-Lite）で行う。Wafer数3枚未満の位置は非表示。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2026-07-05T11:02:03Z</dcterms:created>
  <dcterms:modified xsi:type="dcterms:W3CDTF">2026-07-05T11:02:03Z</dcterms:modified>
</cp:coreProperties>
</file>