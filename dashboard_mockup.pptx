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LithoBooster ダッシュボード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画面イメージ（モックアップ）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アライメント計測結果とShot補正制御の可視化｜Vertica DirectQuery｜Power BI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27346F"/>
          </a:solidFill>
          <a:ln w="12700">
            <a:solidFill>
              <a:srgbClr val="3D4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38587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サマリー / トレンド（Canon）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47872" y="37947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27346F"/>
          </a:solidFill>
          <a:ln w="12700">
            <a:solidFill>
              <a:srgbClr val="3D4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66744" y="38587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平均ベクトル場 俯瞰（Canon）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2784" y="37947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27346F"/>
          </a:solidFill>
          <a:ln w="12700">
            <a:solidFill>
              <a:srgbClr val="3D4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38587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P3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詳細分析（Canon）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97696" y="37947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27346F"/>
          </a:solidFill>
          <a:ln w="12700">
            <a:solidFill>
              <a:srgbClr val="3D4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16568" y="38587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P4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サマリー / トレンド（Nikon）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27346F"/>
          </a:solidFill>
          <a:ln w="12700">
            <a:solidFill>
              <a:srgbClr val="3D4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48188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P5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補正前Shot配列 俯瞰（Nikon）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47872" y="475488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27346F"/>
          </a:solidFill>
          <a:ln w="12700">
            <a:solidFill>
              <a:srgbClr val="3D4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6744" y="48188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P6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詳細分析（Nikon）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2784" y="475488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27346F"/>
          </a:solidFill>
          <a:ln w="12700">
            <a:solidFill>
              <a:srgbClr val="3D4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48188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P7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Shotスタック分析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グラフはダミーデータによる表示例です（実データではありません）　2026/07/05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　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サマリー / トレンド（Canon）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カテゴリ別傾向と時系列の早期検知（V-01/04/05/06/07/08/09/10）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481328" cy="5669280"/>
          </a:xfrm>
          <a:prstGeom prst="roundRect">
            <a:avLst>
              <a:gd name="adj" fmla="val 3086"/>
            </a:avLst>
          </a:prstGeom>
          <a:solidFill>
            <a:srgbClr val="EEF1F7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フィルター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20700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527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6/28 – 7/4  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956816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02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DEVICE_TYPE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AADE058_01.00  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706624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75234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装置（EQPID）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" y="29992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3456432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021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OPERATION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" y="37490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RDH-MLF  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4206240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42519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" y="495604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50017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52486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914400"/>
            <a:ext cx="239572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96926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16.8 nm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993392" y="1417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残差RMS X（期間内）</a:t>
            </a:r>
            <a:pPr indent="0" marL="0">
              <a:buNone/>
            </a:pP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25696" y="914400"/>
            <a:ext cx="239572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96926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15.2 nm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4498848" y="1417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残差RMS Y（期間内）</a:t>
            </a:r>
            <a:pPr indent="0" marL="0">
              <a:buNone/>
            </a:pP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31152" y="914400"/>
            <a:ext cx="239572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96926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26.3 %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004304" y="1417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判定=0 比率</a:t>
            </a:r>
            <a:pPr indent="0" marL="0">
              <a:buNone/>
            </a:pPr>
            <a:r>
              <a:rPr lang="en-US" sz="8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▲+1.2pt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436608" y="914400"/>
            <a:ext cx="239572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0" y="96926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94 枚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509760" y="1417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計測Wafer数</a:t>
            </a:r>
            <a:pPr indent="0" marL="0">
              <a:buNone/>
            </a:pP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20240" y="1901952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93392" y="1938528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V-06｜線形成分トレンド（号機別・管理限界線つき）</a:t>
            </a:r>
            <a:endParaRPr lang="en-US" sz="900" dirty="0"/>
          </a:p>
        </p:txBody>
      </p:sp>
      <p:pic>
        <p:nvPicPr>
          <p:cNvPr id="38" name="Image 0" descr="/private/tmp/claude-501/-Users-sakamoto-04---------ClaudeCode-GitHub-PowerBI-LithoBooster-DashBoard/1d2ed9c0-fbf9-4130-80df-0e37d1e3ada0/scratchpad/charts/p1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93392" y="2194560"/>
            <a:ext cx="5705856" cy="1901952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7882128" y="1901952"/>
            <a:ext cx="39593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55280" y="1938528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V-01｜計測値X/Yの箱ひげ（OPERATION別）</a:t>
            </a:r>
            <a:endParaRPr lang="en-US" sz="900" dirty="0"/>
          </a:p>
        </p:txBody>
      </p:sp>
      <p:pic>
        <p:nvPicPr>
          <p:cNvPr id="41" name="Image 1" descr="/private/tmp/claude-501/-Users-sakamoto-04---------ClaudeCode-GitHub-PowerBI-LithoBooster-DashBoard/1d2ed9c0-fbf9-4130-80df-0e37d1e3ada0/scratchpad/charts/p1_bo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55280" y="2194560"/>
            <a:ext cx="3813048" cy="1901952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1920240" y="4279392"/>
            <a:ext cx="58521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993392" y="4315968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V-09｜装置×日付ヒートマップ（異常の早期発見）</a:t>
            </a:r>
            <a:endParaRPr lang="en-US" sz="900" dirty="0"/>
          </a:p>
        </p:txBody>
      </p:sp>
      <p:pic>
        <p:nvPicPr>
          <p:cNvPr id="44" name="Image 2" descr="/private/tmp/claude-501/-Users-sakamoto-04---------ClaudeCode-GitHub-PowerBI-LithoBooster-DashBoard/1d2ed9c0-fbf9-4130-80df-0e37d1e3ada0/scratchpad/charts/p1_hea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993392" y="4572000"/>
            <a:ext cx="5705856" cy="1792224"/>
          </a:xfrm>
          <a:prstGeom prst="rect">
            <a:avLst/>
          </a:prstGeom>
        </p:spPr>
      </p:pic>
      <p:sp>
        <p:nvSpPr>
          <p:cNvPr id="45" name="Shape 40"/>
          <p:cNvSpPr/>
          <p:nvPr/>
        </p:nvSpPr>
        <p:spPr>
          <a:xfrm>
            <a:off x="7882128" y="4279392"/>
            <a:ext cx="395935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7955280" y="4315968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V-04｜計測判定のOPERATION別比率</a:t>
            </a:r>
            <a:endParaRPr lang="en-US" sz="900" dirty="0"/>
          </a:p>
        </p:txBody>
      </p:sp>
      <p:pic>
        <p:nvPicPr>
          <p:cNvPr id="47" name="Image 3" descr="/private/tmp/claude-501/-Users-sakamoto-04---------ClaudeCode-GitHub-PowerBI-LithoBooster-DashBoard/1d2ed9c0-fbf9-4130-80df-0e37d1e3ada0/scratchpad/charts/p1_ng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55280" y="4572000"/>
            <a:ext cx="3813048" cy="1792224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786384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画面イメージ（ダミーデータによるモックアップ）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　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平均ベクトル場 俯瞰（Canon）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取得データ全体の平均残差を装置×OPERATIONで比較（V-12）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481328" cy="5669280"/>
          </a:xfrm>
          <a:prstGeom prst="roundRect">
            <a:avLst>
              <a:gd name="adj" fmla="val 3086"/>
            </a:avLst>
          </a:prstGeom>
          <a:solidFill>
            <a:srgbClr val="EEF1F7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フィルター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20700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527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6/28 – 7/4  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956816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02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DEVICE_TYPE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AADE058_01.00  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706624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75234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装置（EQPID）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" y="29992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3456432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021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OPERATION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" y="37490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RDH-MLF  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4206240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42519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" y="495604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50017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52486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914400"/>
            <a:ext cx="69494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950976"/>
            <a:ext cx="6803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V-12｜平均ベクトル場（装置×OPERATION小マルチ、色=ベクトル長、Shot枠つき）</a:t>
            </a:r>
            <a:endParaRPr lang="en-US" sz="900" dirty="0"/>
          </a:p>
        </p:txBody>
      </p:sp>
      <p:pic>
        <p:nvPicPr>
          <p:cNvPr id="26" name="Image 0" descr="/private/tmp/claude-501/-Users-sakamoto-04---------ClaudeCode-GitHub-PowerBI-LithoBooster-DashBoard/1d2ed9c0-fbf9-4130-80df-0e37d1e3ada0/scratchpad/charts/p2_meanfiel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93392" y="1207008"/>
            <a:ext cx="6803136" cy="5148072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914400"/>
            <a:ext cx="2834640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98280" y="960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144000" y="1225296"/>
            <a:ext cx="25603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必須フィルター（期間・DEVICE_TYPE・OPERATION）の範囲全体を平均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装置×OPERATIONごとの傾向差を俯瞰で比較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気になるマスを右クリック → P3 詳細分析へドリルスルー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9006840" y="3794760"/>
            <a:ext cx="2834640" cy="265176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98280" y="38404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表示仕様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144000" y="4105656"/>
            <a:ext cx="25603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矢印の色はベクトルの長さ（カラースケール）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Shot枠とWafer外周円（150mm）を描画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矢印の倍率スケールは調整可能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86384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画面イメージ（ダミーデータによるモックアップ）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P3　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詳細分析（Canon）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特定Lot・Waferに絞って詳細確認（V-11/25/27/22/26/03）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481328" cy="5669280"/>
          </a:xfrm>
          <a:prstGeom prst="roundRect">
            <a:avLst>
              <a:gd name="adj" fmla="val 3086"/>
            </a:avLst>
          </a:prstGeom>
          <a:solidFill>
            <a:srgbClr val="EEF1F7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フィルター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20700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527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6/28 – 7/4  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956816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02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DEVICE_TYPE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AADE058_01.00  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706624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75234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装置（EQPID）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" y="29992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3456432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021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OPERATION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" y="37490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RDH-MLF  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4206240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42519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" y="495604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50017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52486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" y="5705856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57515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WAFER選択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" y="59984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5BW975B22-01  ▾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20240" y="91440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95097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V-11｜計測値ベクトルマップ</a:t>
            </a:r>
            <a:endParaRPr lang="en-US" sz="900" dirty="0"/>
          </a:p>
        </p:txBody>
      </p:sp>
      <p:pic>
        <p:nvPicPr>
          <p:cNvPr id="29" name="Image 0" descr="/private/tmp/claude-501/-Users-sakamoto-04---------ClaudeCode-GitHub-PowerBI-LithoBooster-DashBoard/1d2ed9c0-fbf9-4130-80df-0e37d1e3ada0/scratchpad/charts/p2_qui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93392" y="1207008"/>
            <a:ext cx="2688336" cy="245059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4846320" y="914400"/>
            <a:ext cx="3794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19472" y="950976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V-25｜計測値X/Yヒートマップ（Shot平均）</a:t>
            </a:r>
            <a:endParaRPr lang="en-US" sz="900" dirty="0"/>
          </a:p>
        </p:txBody>
      </p:sp>
      <p:pic>
        <p:nvPicPr>
          <p:cNvPr id="32" name="Image 1" descr="/private/tmp/claude-501/-Users-sakamoto-04---------ClaudeCode-GitHub-PowerBI-LithoBooster-DashBoard/1d2ed9c0-fbf9-4130-80df-0e37d1e3ada0/scratchpad/charts/p3_heatx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19472" y="1207008"/>
            <a:ext cx="3648456" cy="2450592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8732520" y="914400"/>
            <a:ext cx="3108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805672" y="950976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V-27｜計測値ベクトル長ヒートマップ</a:t>
            </a:r>
            <a:endParaRPr lang="en-US" sz="900" dirty="0"/>
          </a:p>
        </p:txBody>
      </p:sp>
      <p:pic>
        <p:nvPicPr>
          <p:cNvPr id="35" name="Image 2" descr="/private/tmp/claude-501/-Users-sakamoto-04---------ClaudeCode-GitHub-PowerBI-LithoBooster-DashBoard/1d2ed9c0-fbf9-4130-80df-0e37d1e3ada0/scratchpad/charts/p3_heatma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05672" y="1207008"/>
            <a:ext cx="2962656" cy="2450592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1920240" y="38404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993392" y="387705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V-22｜面内共分散楕円マップ</a:t>
            </a:r>
            <a:endParaRPr lang="en-US" sz="900" dirty="0"/>
          </a:p>
        </p:txBody>
      </p:sp>
      <p:pic>
        <p:nvPicPr>
          <p:cNvPr id="38" name="Image 3" descr="/private/tmp/claude-501/-Users-sakamoto-04---------ClaudeCode-GitHub-PowerBI-LithoBooster-DashBoard/1d2ed9c0-fbf9-4130-80df-0e37d1e3ada0/scratchpad/charts/p2_ellips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993392" y="4133088"/>
            <a:ext cx="2505456" cy="2221992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4663440" y="38404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736592" y="387705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V-26｜補正前Shot配列（SEPA+SAME逆算）</a:t>
            </a:r>
            <a:endParaRPr lang="en-US" sz="900" dirty="0"/>
          </a:p>
        </p:txBody>
      </p:sp>
      <p:pic>
        <p:nvPicPr>
          <p:cNvPr id="41" name="Image 4" descr="/private/tmp/claude-501/-Users-sakamoto-04---------ClaudeCode-GitHub-PowerBI-LithoBooster-DashBoard/1d2ed9c0-fbf9-4130-80df-0e37d1e3ada0/scratchpad/charts/p3_shotarray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36592" y="4133088"/>
            <a:ext cx="2505456" cy="2221992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7406640" y="3840480"/>
            <a:ext cx="4434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479792" y="3877056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V-03｜Shotごとの補正値6種（SEPA / SAME別）</a:t>
            </a:r>
            <a:endParaRPr lang="en-US" sz="900" dirty="0"/>
          </a:p>
        </p:txBody>
      </p:sp>
      <p:pic>
        <p:nvPicPr>
          <p:cNvPr id="44" name="Image 5" descr="/private/tmp/claude-501/-Users-sakamoto-04---------ClaudeCode-GitHub-PowerBI-LithoBooster-DashBoard/1d2ed9c0-fbf9-4130-80df-0e37d1e3ada0/scratchpad/charts/p3_corr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79792" y="4133088"/>
            <a:ext cx="4288536" cy="222199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86384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画面イメージ（ダミーデータによるモックアップ）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P4　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サマリー / トレンド（Nikon）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 / Shot線形成分の傾向と早期検知（V-02/05/06/08/09/10）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481328" cy="5669280"/>
          </a:xfrm>
          <a:prstGeom prst="roundRect">
            <a:avLst>
              <a:gd name="adj" fmla="val 3086"/>
            </a:avLst>
          </a:prstGeom>
          <a:solidFill>
            <a:srgbClr val="EEF1F7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フィルター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20700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527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6/28 – 7/4  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956816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02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DEVICE_TYPE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AADE058_01.00  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706624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75234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装置（EQPID）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" y="29992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3456432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021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OPERATION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" y="37490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RDH-MLF  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4206240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42519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" y="495604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50017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52486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9144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96926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14.9 nm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93392" y="14173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OFSETX RMS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584448" y="9144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96926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13.6 nm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657600" y="14173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OFSETY RMS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248656" y="9144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96926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0.48 ppm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14173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SCALX 平均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12864" y="9144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6016" y="96926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0.41 ppm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86016" y="14173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SCALY 平均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577072" y="9144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50224" y="96926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0.52 µrad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50224" y="14173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ROTX 平均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241280" y="9144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14432" y="96926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0.47 µrad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314432" y="14173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ROTY 平均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920240" y="1901952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93392" y="1938528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V-06｜Wafer線形成分トレンド（号機別・管理限界線つき）</a:t>
            </a:r>
            <a:endParaRPr lang="en-US" sz="900" dirty="0"/>
          </a:p>
        </p:txBody>
      </p:sp>
      <p:pic>
        <p:nvPicPr>
          <p:cNvPr id="44" name="Image 0" descr="/private/tmp/claude-501/-Users-sakamoto-04---------ClaudeCode-GitHub-PowerBI-LithoBooster-DashBoard/1d2ed9c0-fbf9-4130-80df-0e37d1e3ada0/scratchpad/charts/p4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93392" y="2194560"/>
            <a:ext cx="5705856" cy="1901952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7882128" y="1901952"/>
            <a:ext cx="39593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55280" y="1938528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V-02｜補正量X/Yの箱ひげ（OPERATION別）</a:t>
            </a:r>
            <a:endParaRPr lang="en-US" sz="900" dirty="0"/>
          </a:p>
        </p:txBody>
      </p:sp>
      <p:pic>
        <p:nvPicPr>
          <p:cNvPr id="47" name="Image 1" descr="/private/tmp/claude-501/-Users-sakamoto-04---------ClaudeCode-GitHub-PowerBI-LithoBooster-DashBoard/1d2ed9c0-fbf9-4130-80df-0e37d1e3ada0/scratchpad/charts/p4_bo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55280" y="2194560"/>
            <a:ext cx="3813048" cy="1901952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1920240" y="4279392"/>
            <a:ext cx="58521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993392" y="4315968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V-09｜装置×日付ヒートマップ（補正量RMS）</a:t>
            </a:r>
            <a:endParaRPr lang="en-US" sz="900" dirty="0"/>
          </a:p>
        </p:txBody>
      </p:sp>
      <p:pic>
        <p:nvPicPr>
          <p:cNvPr id="50" name="Image 2" descr="/private/tmp/claude-501/-Users-sakamoto-04---------ClaudeCode-GitHub-PowerBI-LithoBooster-DashBoard/1d2ed9c0-fbf9-4130-80df-0e37d1e3ada0/scratchpad/charts/p4_hea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993392" y="4572000"/>
            <a:ext cx="5705856" cy="1792224"/>
          </a:xfrm>
          <a:prstGeom prst="rect">
            <a:avLst/>
          </a:prstGeom>
        </p:spPr>
      </p:pic>
      <p:sp>
        <p:nvSpPr>
          <p:cNvPr id="51" name="Shape 46"/>
          <p:cNvSpPr/>
          <p:nvPr/>
        </p:nvSpPr>
        <p:spPr>
          <a:xfrm>
            <a:off x="7882128" y="4279392"/>
            <a:ext cx="3959352" cy="2176272"/>
          </a:xfrm>
          <a:prstGeom prst="rect">
            <a:avLst/>
          </a:prstGeom>
          <a:solidFill>
            <a:srgbClr val="F7F9FC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7973568" y="4325112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8019288" y="4590288"/>
            <a:ext cx="368503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KPIカードは補正成分ごとにX/Y別で表示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比較軸はフィールドパラメーターで切替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Lotをクリック → P5 俯瞰 / P6 詳細へ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786384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画面イメージ（ダミーデータによるモックアップ）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P5　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補正前Shot配列 俯瞰（Nikon）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Shotごとの補正量から補正前の配列を逆算（V-18）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481328" cy="5669280"/>
          </a:xfrm>
          <a:prstGeom prst="roundRect">
            <a:avLst>
              <a:gd name="adj" fmla="val 3086"/>
            </a:avLst>
          </a:prstGeom>
          <a:solidFill>
            <a:srgbClr val="EEF1F7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フィルター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20700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527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6/28 – 7/4  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956816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02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DEVICE_TYPE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AADE058_01.00  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706624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75234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装置（EQPID）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" y="29992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3456432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021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OPERATION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" y="37490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RDH-MLF  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4206240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42519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" y="495604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50017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52486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914400"/>
            <a:ext cx="69494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950976"/>
            <a:ext cx="6803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V-18｜補正前Shot配列（装置別 × OPERATION別の小マルチ、誇張表示）</a:t>
            </a:r>
            <a:endParaRPr lang="en-US" sz="900" dirty="0"/>
          </a:p>
        </p:txBody>
      </p:sp>
      <p:pic>
        <p:nvPicPr>
          <p:cNvPr id="26" name="Image 0" descr="/private/tmp/claude-501/-Users-sakamoto-04---------ClaudeCode-GitHub-PowerBI-LithoBooster-DashBoard/1d2ed9c0-fbf9-4130-80df-0e37d1e3ada0/scratchpad/charts/p5_shotarr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93392" y="1207008"/>
            <a:ext cx="6803136" cy="5148072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914400"/>
            <a:ext cx="2834640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98280" y="960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144000" y="1225296"/>
            <a:ext cx="25603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Shotごとの補正量（CORRDATA）から補正前のShot配列を逆算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装置×OPERATIONごとに平均から再構成（灰=公称 / 赤=補正前）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気になる装置・Lotを選択 → P6 詳細分析へドリルスルー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9006840" y="3794760"/>
            <a:ext cx="2834640" cy="265176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98280" y="38404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表示仕様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144000" y="4105656"/>
            <a:ext cx="25603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歪みは誇張表示（倍率は調整可能）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Shot枠とWafer外周円（150mm）を描画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逆算式の符号規約は要確認 → I-009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86384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画面イメージ（ダミーデータによるモックアップ）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P6　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詳細分析（Nikon）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特定Lot・Waferに絞って詳細確認（V-14/18/28）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481328" cy="5669280"/>
          </a:xfrm>
          <a:prstGeom prst="roundRect">
            <a:avLst>
              <a:gd name="adj" fmla="val 3086"/>
            </a:avLst>
          </a:prstGeom>
          <a:solidFill>
            <a:srgbClr val="EEF1F7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フィルター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20700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527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6/28 – 7/4  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956816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02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DEVICE_TYPE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AADE058_01.00  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706624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75234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装置（EQPID）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" y="29992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3456432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021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OPERATION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" y="37490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RDH-MLF  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4206240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42519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" y="495604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50017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52486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" y="5705856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57515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WAFER選択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" y="59984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5BW975B43-01  ▾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20240" y="914400"/>
            <a:ext cx="3246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95097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V-14｜補正点ベクトルマップ（成分切替）</a:t>
            </a:r>
            <a:endParaRPr lang="en-US" sz="900" dirty="0"/>
          </a:p>
        </p:txBody>
      </p:sp>
      <p:pic>
        <p:nvPicPr>
          <p:cNvPr id="29" name="Image 0" descr="/private/tmp/claude-501/-Users-sakamoto-04---------ClaudeCode-GitHub-PowerBI-LithoBooster-DashBoard/1d2ed9c0-fbf9-4130-80df-0e37d1e3ada0/scratchpad/charts/p5_qui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93392" y="1207008"/>
            <a:ext cx="3099816" cy="327355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257800" y="914400"/>
            <a:ext cx="3246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30952" y="95097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V-18｜補正前Shot配列（Wafer単位、誇張表示）</a:t>
            </a:r>
            <a:endParaRPr lang="en-US" sz="900" dirty="0"/>
          </a:p>
        </p:txBody>
      </p:sp>
      <p:pic>
        <p:nvPicPr>
          <p:cNvPr id="32" name="Image 1" descr="/private/tmp/claude-501/-Users-sakamoto-04---------ClaudeCode-GitHub-PowerBI-LithoBooster-DashBoard/1d2ed9c0-fbf9-4130-80df-0e37d1e3ada0/scratchpad/charts/p6_shotarr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30952" y="1207008"/>
            <a:ext cx="3099816" cy="3273552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8595360" y="914400"/>
            <a:ext cx="3246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668512" y="95097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V-28｜Shot補正成分（線形 + 高次SHOTFAC）</a:t>
            </a:r>
            <a:endParaRPr lang="en-US" sz="900" dirty="0"/>
          </a:p>
        </p:txBody>
      </p:sp>
      <p:pic>
        <p:nvPicPr>
          <p:cNvPr id="35" name="Image 2" descr="/private/tmp/claude-501/-Users-sakamoto-04---------ClaudeCode-GitHub-PowerBI-LithoBooster-DashBoard/1d2ed9c0-fbf9-4130-80df-0e37d1e3ada0/scratchpad/charts/p6_linfac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8512" y="1207008"/>
            <a:ext cx="3099816" cy="1993392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8595360" y="3383280"/>
            <a:ext cx="3246120" cy="1188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686800" y="34290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確認事項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8732520" y="3694176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SHOTFAC番号と多項式次数の対応・単位は要確認 → I-002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1920240" y="4709160"/>
            <a:ext cx="9921240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2011680" y="4754880"/>
            <a:ext cx="9738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操作・補足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2057400" y="5020056"/>
            <a:ext cx="96469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表示成分（OFSET / SCAL / ROT）はスライサーで切替。矢印の倍率スケールはスライダーで調整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補正前Shot配列の逆算式（符号規約）は装置エンジニアに確認 → I-009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Wafer1枚選択で描画（DirectQuery負荷対策）。Shot枠を描画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786384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画面イメージ（ダミーデータによるモックアップ）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P7　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Shotスタック分析（Canon計測値X/Y）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全ShotをShot座標系に重ねてShot内の系統傾向を把握（V-19/23/21/29）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481328" cy="5669280"/>
          </a:xfrm>
          <a:prstGeom prst="roundRect">
            <a:avLst>
              <a:gd name="adj" fmla="val 3086"/>
            </a:avLst>
          </a:prstGeom>
          <a:solidFill>
            <a:srgbClr val="EEF1F7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フィルター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20700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527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4996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6/28 – 7/4  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956816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02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DEVICE_TYPE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AADE058_01.00  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706624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75234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装置（EQPID）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" y="29992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3456432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021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OPERATION</a:t>
            </a:r>
            <a:pPr indent="0" marL="0">
              <a:buNone/>
            </a:pPr>
            <a:r>
              <a:rPr lang="en-US" sz="75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必須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" y="37490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RDH-MLF  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4206240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42519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LOT_ID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" y="4956048"/>
            <a:ext cx="1261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50017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WAFER_ID</a:t>
            </a:r>
            <a:pPr indent="0" marL="0">
              <a:buNone/>
            </a:pPr>
            <a:r>
              <a:rPr lang="en-US" sz="750" dirty="0">
                <a:solidFill>
                  <a:srgbClr val="9A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任意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52486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 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914400"/>
            <a:ext cx="3017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950976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V-19｜スタック平均ベクトル（Shot内の指紋）</a:t>
            </a:r>
            <a:endParaRPr lang="en-US" sz="900" dirty="0"/>
          </a:p>
        </p:txBody>
      </p:sp>
      <p:pic>
        <p:nvPicPr>
          <p:cNvPr id="26" name="Image 0" descr="/private/tmp/claude-501/-Users-sakamoto-04---------ClaudeCode-GitHub-PowerBI-LithoBooster-DashBoard/1d2ed9c0-fbf9-4130-80df-0e37d1e3ada0/scratchpad/charts/p6_st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93392" y="1207008"/>
            <a:ext cx="2871216" cy="3273552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029200" y="914400"/>
            <a:ext cx="3291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02352" y="950976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V-23｜Mark位置ごとの共分散楕円</a:t>
            </a:r>
            <a:endParaRPr lang="en-US" sz="900" dirty="0"/>
          </a:p>
        </p:txBody>
      </p:sp>
      <p:pic>
        <p:nvPicPr>
          <p:cNvPr id="29" name="Image 1" descr="/private/tmp/claude-501/-Users-sakamoto-04---------ClaudeCode-GitHub-PowerBI-LithoBooster-DashBoard/1d2ed9c0-fbf9-4130-80df-0e37d1e3ada0/scratchpad/charts/p6_ellips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02352" y="1207008"/>
            <a:ext cx="3145536" cy="3273552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412480" y="914400"/>
            <a:ext cx="3429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485632" y="950976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V-21｜計測値X/YのMark位置別分布</a:t>
            </a:r>
            <a:endParaRPr lang="en-US" sz="900" dirty="0"/>
          </a:p>
        </p:txBody>
      </p:sp>
      <p:pic>
        <p:nvPicPr>
          <p:cNvPr id="32" name="Image 2" descr="/private/tmp/claude-501/-Users-sakamoto-04---------ClaudeCode-GitHub-PowerBI-LithoBooster-DashBoard/1d2ed9c0-fbf9-4130-80df-0e37d1e3ada0/scratchpad/charts/p7_box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5632" y="1207008"/>
            <a:ext cx="3282696" cy="3273552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1920240" y="4709160"/>
            <a:ext cx="3749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993392" y="4745736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V-29｜Scan方向ごとの計測値X/Y分布</a:t>
            </a:r>
            <a:endParaRPr lang="en-US" sz="900" dirty="0"/>
          </a:p>
        </p:txBody>
      </p:sp>
      <p:pic>
        <p:nvPicPr>
          <p:cNvPr id="35" name="Image 3" descr="/private/tmp/claude-501/-Users-sakamoto-04---------ClaudeCode-GitHub-PowerBI-LithoBooster-DashBoard/1d2ed9c0-fbf9-4130-80df-0e37d1e3ada0/scratchpad/charts/p7_dirbox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993392" y="5001768"/>
            <a:ext cx="3602736" cy="1353312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5760720" y="4709160"/>
            <a:ext cx="6080760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852160" y="4754880"/>
            <a:ext cx="5897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スタックの定義と楕円の見方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5897880" y="5020056"/>
            <a:ext cx="5806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対象はCanonビューの計測値X/Y。全Shot・全WaferのMark計測値をShot中心原点の座標系に重ね、Mark位置ごとに集計（Wafer平均を差し引き）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V-23の楕円: サイズ=分散（固有値√×k）、傾き=X/Y相関の向き、色=|相関係数|。V-22と同じ規則</a:t>
            </a:r>
            <a:endParaRPr lang="en-US" sz="950" dirty="0"/>
          </a:p>
          <a:p>
            <a:pPr marL="101600" indent="-1016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OPERATIONによりShotサイズ・Mark数（RDH: 4点 / MSR: 6点）が異なるため、OPERATION絞り込みは必須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786384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画面イメージ（ダミーデータによるモックアップ）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付録　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共分散楕円の読み方（V-22 / V-23）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1521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5"/>
            </a:solidFill>
            <a:prstDash val="solid"/>
          </a:ln>
        </p:spPr>
      </p:sp>
      <p:pic>
        <p:nvPicPr>
          <p:cNvPr id="5" name="Image 0" descr="/private/tmp/claude-501/-Users-sakamoto-04---------ClaudeCode-GitHub-PowerBI-LithoBooster-DashBoard/1d2ed9c0-fbf9-4130-80df-0e37d1e3ada0/scratchpad/charts/legend_ellip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005840"/>
            <a:ext cx="1069848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16052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EEF1F7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" y="468172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共分散行列の固有値の平方根 × k を長軸・短軸にする（初期値 k = 2、2σ相当）。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Wafer間の分散が大きい位置ほど楕円が大きくなる。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416052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EEF1F7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2272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傾き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62272" y="468172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主軸方向 θ = 0.5 × atan2(2·Cxy, Vx − Vy)。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X/Yの相関の向きに応じて楕円が傾く。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75320" y="416052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EEF1F7"/>
          </a:solidFill>
          <a:ln w="12700">
            <a:solidFill>
              <a:srgbClr val="D5DA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39912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39912" y="468172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|相関係数 r| = |Cxy| / (σx·σy) をカラースケール（0〜1）に割り当て。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濃い色 = X/Y成分が連動して変動している場所。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62179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分散・共分散はDAXメジャーで算出し、楕円描画はDeneb（Vega-Lite）で行う。Wafer数3枚未満の位置は非表示。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6384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画面イメージ（ダミーデータによるモックアップ）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2026-07-05T13:38:44Z</dcterms:created>
  <dcterms:modified xsi:type="dcterms:W3CDTF">2026-07-05T13:38:44Z</dcterms:modified>
</cp:coreProperties>
</file>