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LithoBooster ダッシュボード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2240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画面イメージ（モックアップ）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アライメント計測結果とShot補正制御の可視化｜Vertica DirectQuery｜Power BI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379476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38587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トレンド（Canon）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47872" y="379476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66744" y="38587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平均ベクトル場 俯瞰（Canon）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2784" y="379476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91656" y="38587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詳細分析（Canon）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97696" y="379476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16568" y="38587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トレンド（Nikon）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75488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1832" y="481888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補正前Shot配列 俯瞰（Nikon）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47872" y="475488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66744" y="481888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P6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詳細分析（Nikon）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72784" y="475488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91656" y="481888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P7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Shotスタック分析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61264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D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グラフはダミーデータによる表示例です（実データではありません）　2026/07/05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トレンド（Canon）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カテゴリ別傾向と時系列の早期検知（V-01/04/06/09/10/30）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1.2 ± 145.3 nm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993392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計測値X 平均±3σ</a:t>
            </a:r>
            <a:pPr indent="0" marL="0">
              <a:buNone/>
            </a:pP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425696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98848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0.8 ± 139.4 nm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498848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計測値Y 平均±3σ</a:t>
            </a:r>
            <a:pPr indent="0" marL="0">
              <a:buNone/>
            </a:pP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931152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04304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26.3 %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004304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判定=0 比率</a:t>
            </a:r>
            <a:pPr indent="0" marL="0">
              <a:buNone/>
            </a:pPr>
            <a:r>
              <a:rPr lang="en-US" sz="8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▲+1.2pt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436608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09760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94 枚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509760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計測Wafer数</a:t>
            </a:r>
            <a:pPr indent="0" marL="0">
              <a:buNone/>
            </a:pP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920240" y="1901952"/>
            <a:ext cx="62636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93392" y="1938528"/>
            <a:ext cx="6117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V-06｜Wafer低次補正成分（6成分）のトレンド（号機別）</a:t>
            </a:r>
            <a:endParaRPr lang="en-US" sz="900" dirty="0"/>
          </a:p>
        </p:txBody>
      </p:sp>
      <p:pic>
        <p:nvPicPr>
          <p:cNvPr id="38" name="Image 0" descr="/private/tmp/claude-501/-Users-sakamoto-04---------ClaudeCode-GitHub-PowerBI-LithoBooster-DashBoard/1d2ed9c0-fbf9-4130-80df-0e37d1e3ada0/scratchpad/charts/p1_trend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2194560"/>
            <a:ext cx="6117336" cy="2103120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8275320" y="1901952"/>
            <a:ext cx="356616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348472" y="1938528"/>
            <a:ext cx="3419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V-30｜計測値X/Yのトレンド（Wafer平均）</a:t>
            </a:r>
            <a:endParaRPr lang="en-US" sz="900" dirty="0"/>
          </a:p>
        </p:txBody>
      </p:sp>
      <p:pic>
        <p:nvPicPr>
          <p:cNvPr id="41" name="Image 1" descr="/private/tmp/claude-501/-Users-sakamoto-04---------ClaudeCode-GitHub-PowerBI-LithoBooster-DashBoard/1d2ed9c0-fbf9-4130-80df-0e37d1e3ada0/scratchpad/charts/p1_meastren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348472" y="2194560"/>
            <a:ext cx="3419856" cy="2103120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1920240" y="4480560"/>
            <a:ext cx="3977640" cy="1975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1993392" y="4517136"/>
            <a:ext cx="3831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V-01｜計測値X/Yの箱ひげ（OPERATION別）</a:t>
            </a:r>
            <a:endParaRPr lang="en-US" sz="900" dirty="0"/>
          </a:p>
        </p:txBody>
      </p:sp>
      <p:pic>
        <p:nvPicPr>
          <p:cNvPr id="44" name="Image 2" descr="/private/tmp/claude-501/-Users-sakamoto-04---------ClaudeCode-GitHub-PowerBI-LithoBooster-DashBoard/1d2ed9c0-fbf9-4130-80df-0e37d1e3ada0/scratchpad/charts/p1_box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993392" y="4773168"/>
            <a:ext cx="3831336" cy="1591056"/>
          </a:xfrm>
          <a:prstGeom prst="rect">
            <a:avLst/>
          </a:prstGeom>
        </p:spPr>
      </p:pic>
      <p:sp>
        <p:nvSpPr>
          <p:cNvPr id="45" name="Shape 40"/>
          <p:cNvSpPr/>
          <p:nvPr/>
        </p:nvSpPr>
        <p:spPr>
          <a:xfrm>
            <a:off x="5989320" y="4480560"/>
            <a:ext cx="3383280" cy="1975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6062472" y="4517136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V-09｜装置×日付ヒートマップ</a:t>
            </a:r>
            <a:endParaRPr lang="en-US" sz="900" dirty="0"/>
          </a:p>
        </p:txBody>
      </p:sp>
      <p:pic>
        <p:nvPicPr>
          <p:cNvPr id="47" name="Image 3" descr="/private/tmp/claude-501/-Users-sakamoto-04---------ClaudeCode-GitHub-PowerBI-LithoBooster-DashBoard/1d2ed9c0-fbf9-4130-80df-0e37d1e3ada0/scratchpad/charts/p1_hea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062472" y="4773168"/>
            <a:ext cx="3236976" cy="1591056"/>
          </a:xfrm>
          <a:prstGeom prst="rect">
            <a:avLst/>
          </a:prstGeom>
        </p:spPr>
      </p:pic>
      <p:sp>
        <p:nvSpPr>
          <p:cNvPr id="48" name="Shape 42"/>
          <p:cNvSpPr/>
          <p:nvPr/>
        </p:nvSpPr>
        <p:spPr>
          <a:xfrm>
            <a:off x="9464040" y="4480560"/>
            <a:ext cx="2377440" cy="1975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9537192" y="4517136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V-04｜計測判定の比率</a:t>
            </a:r>
            <a:endParaRPr lang="en-US" sz="900" dirty="0"/>
          </a:p>
        </p:txBody>
      </p:sp>
      <p:pic>
        <p:nvPicPr>
          <p:cNvPr id="50" name="Image 4" descr="/private/tmp/claude-501/-Users-sakamoto-04---------ClaudeCode-GitHub-PowerBI-LithoBooster-DashBoard/1d2ed9c0-fbf9-4130-80df-0e37d1e3ada0/scratchpad/charts/p1_ng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37192" y="4773168"/>
            <a:ext cx="2231136" cy="1591056"/>
          </a:xfrm>
          <a:prstGeom prst="rect">
            <a:avLst/>
          </a:prstGeom>
        </p:spPr>
      </p:pic>
      <p:sp>
        <p:nvSpPr>
          <p:cNvPr id="51" name="Text 44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平均ベクトル場 俯瞰（Canon）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取得データ全体の平均残差を装置×OPERATIONで比較（V-12）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6949440" cy="553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50976"/>
            <a:ext cx="6803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V-12｜平均ベクトル場（装置×OPERATION小マルチ、色=ベクトル長、Shot枠つき）</a:t>
            </a:r>
            <a:endParaRPr lang="en-US" sz="900" dirty="0"/>
          </a:p>
        </p:txBody>
      </p:sp>
      <p:pic>
        <p:nvPicPr>
          <p:cNvPr id="26" name="Image 0" descr="/private/tmp/claude-501/-Users-sakamoto-04---------ClaudeCode-GitHub-PowerBI-LithoBooster-DashBoard/1d2ed9c0-fbf9-4130-80df-0e37d1e3ada0/scratchpad/charts/p2_meanfiel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6803136" cy="514807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9006840" y="914400"/>
            <a:ext cx="2834640" cy="233172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098280" y="96012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9144000" y="1225296"/>
            <a:ext cx="256032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必須フィルター（期間・DEVICE_TYPE・OPERATION）の範囲全体を平均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装置×OPERATIONごとの傾向差を俯瞰で比較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気になるマスを右クリック → P3 詳細分析へドリルスルー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9006840" y="3383280"/>
            <a:ext cx="2834640" cy="233172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098280" y="342900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表示仕様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9144000" y="3694176"/>
            <a:ext cx="256032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矢印の色はベクトルの長さ（カラースケール）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Shot枠とWafer外周円（150mm）を描画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矢印の倍率スケールは調整可能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詳細分析（Canon）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特定Lot・Waferに絞って詳細確認（V-11/25/27/22/26/03）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29768" y="570585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575157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WAFER選択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4632" y="599846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5BW975B22-01  ▾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920240" y="914400"/>
            <a:ext cx="23317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93392" y="950976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V-11｜計測値ベクトルマップ</a:t>
            </a:r>
            <a:endParaRPr lang="en-US" sz="900" dirty="0"/>
          </a:p>
        </p:txBody>
      </p:sp>
      <p:pic>
        <p:nvPicPr>
          <p:cNvPr id="29" name="Image 0" descr="/private/tmp/claude-501/-Users-sakamoto-04---------ClaudeCode-GitHub-PowerBI-LithoBooster-DashBoard/1d2ed9c0-fbf9-4130-80df-0e37d1e3ada0/scratchpad/charts/p2_qui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2185416" cy="2450592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4343400" y="914400"/>
            <a:ext cx="32004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416552" y="95097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V-25｜計測値X/Yヒートマップ（Shot平均）</a:t>
            </a:r>
            <a:endParaRPr lang="en-US" sz="900" dirty="0"/>
          </a:p>
        </p:txBody>
      </p:sp>
      <p:pic>
        <p:nvPicPr>
          <p:cNvPr id="32" name="Image 1" descr="/private/tmp/claude-501/-Users-sakamoto-04---------ClaudeCode-GitHub-PowerBI-LithoBooster-DashBoard/1d2ed9c0-fbf9-4130-80df-0e37d1e3ada0/scratchpad/charts/p3_heatx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16552" y="1207008"/>
            <a:ext cx="3054096" cy="2450592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635240" y="914400"/>
            <a:ext cx="21945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708392" y="950976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V-27｜計測値ベクトル長ヒートマップ</a:t>
            </a:r>
            <a:endParaRPr lang="en-US" sz="900" dirty="0"/>
          </a:p>
        </p:txBody>
      </p:sp>
      <p:pic>
        <p:nvPicPr>
          <p:cNvPr id="35" name="Image 2" descr="/private/tmp/claude-501/-Users-sakamoto-04---------ClaudeCode-GitHub-PowerBI-LithoBooster-DashBoard/1d2ed9c0-fbf9-4130-80df-0e37d1e3ada0/scratchpad/charts/p3_heatma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708392" y="1207008"/>
            <a:ext cx="2048256" cy="2450592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9921240" y="914400"/>
            <a:ext cx="19202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9994392" y="950976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V-22｜面内共分散楕円マップ</a:t>
            </a:r>
            <a:endParaRPr lang="en-US" sz="900" dirty="0"/>
          </a:p>
        </p:txBody>
      </p:sp>
      <p:pic>
        <p:nvPicPr>
          <p:cNvPr id="38" name="Image 3" descr="/private/tmp/claude-501/-Users-sakamoto-04---------ClaudeCode-GitHub-PowerBI-LithoBooster-DashBoard/1d2ed9c0-fbf9-4130-80df-0e37d1e3ada0/scratchpad/charts/p2_ellips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994392" y="1207008"/>
            <a:ext cx="1773936" cy="2450592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1920240" y="3840480"/>
            <a:ext cx="27432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1993392" y="3877056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V-26｜補正前Shot配列（SEPA+SAME逆算）</a:t>
            </a:r>
            <a:endParaRPr lang="en-US" sz="900" dirty="0"/>
          </a:p>
        </p:txBody>
      </p:sp>
      <p:pic>
        <p:nvPicPr>
          <p:cNvPr id="41" name="Image 4" descr="/private/tmp/claude-501/-Users-sakamoto-04---------ClaudeCode-GitHub-PowerBI-LithoBooster-DashBoard/1d2ed9c0-fbf9-4130-80df-0e37d1e3ada0/scratchpad/charts/p3_shotarray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993392" y="4133088"/>
            <a:ext cx="2596896" cy="2221992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4754880" y="3840480"/>
            <a:ext cx="70866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4828032" y="3877056"/>
            <a:ext cx="6940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V-03｜Shotごとの補正値6種（SEPA / SAME別）</a:t>
            </a:r>
            <a:endParaRPr lang="en-US" sz="900" dirty="0"/>
          </a:p>
        </p:txBody>
      </p:sp>
      <p:pic>
        <p:nvPicPr>
          <p:cNvPr id="44" name="Image 5" descr="/private/tmp/claude-501/-Users-sakamoto-04---------ClaudeCode-GitHub-PowerBI-LithoBooster-DashBoard/1d2ed9c0-fbf9-4130-80df-0e37d1e3ada0/scratchpad/charts/p3_corr6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828032" y="4133088"/>
            <a:ext cx="6940296" cy="2221992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トレンド（Nikon）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 / Shot線形成分の傾向と早期検知（V-02/05/06/08/09/10）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2.1 ± 44.6 nm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993392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OFSETX 平均±3σ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584448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0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-1.4 ± 41.2 nm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657600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OFSETY 平均±3σ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248656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21808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0.05 ± 1.52 ppm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321808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SCALX 平均±3σ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912864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86016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0.02 ± 1.48 ppm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986016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SCALY 平均±3σ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577072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50224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0.03 ± 1.61 µrad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650224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ROTX 平均±3σ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10241280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14432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-0.01 ± 1.55 µrad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10314432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ROTY 平均±3σ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920240" y="1901952"/>
            <a:ext cx="62636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93392" y="1938528"/>
            <a:ext cx="6117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V-06｜Wafer低次補正成分（6成分）のトレンド（号機別）</a:t>
            </a:r>
            <a:endParaRPr lang="en-US" sz="900" dirty="0"/>
          </a:p>
        </p:txBody>
      </p:sp>
      <p:pic>
        <p:nvPicPr>
          <p:cNvPr id="44" name="Image 0" descr="/private/tmp/claude-501/-Users-sakamoto-04---------ClaudeCode-GitHub-PowerBI-LithoBooster-DashBoard/1d2ed9c0-fbf9-4130-80df-0e37d1e3ada0/scratchpad/charts/p4_trend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2194560"/>
            <a:ext cx="6117336" cy="2103120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8275320" y="1901952"/>
            <a:ext cx="356616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8348472" y="1938528"/>
            <a:ext cx="3419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V-02｜補正量X/Yの箱ひげ（OPERATION別）</a:t>
            </a:r>
            <a:endParaRPr lang="en-US" sz="900" dirty="0"/>
          </a:p>
        </p:txBody>
      </p:sp>
      <p:pic>
        <p:nvPicPr>
          <p:cNvPr id="47" name="Image 1" descr="/private/tmp/claude-501/-Users-sakamoto-04---------ClaudeCode-GitHub-PowerBI-LithoBooster-DashBoard/1d2ed9c0-fbf9-4130-80df-0e37d1e3ada0/scratchpad/charts/p4_bo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348472" y="2194560"/>
            <a:ext cx="3419856" cy="2103120"/>
          </a:xfrm>
          <a:prstGeom prst="rect">
            <a:avLst/>
          </a:prstGeom>
        </p:spPr>
      </p:pic>
      <p:sp>
        <p:nvSpPr>
          <p:cNvPr id="48" name="Shape 44"/>
          <p:cNvSpPr/>
          <p:nvPr/>
        </p:nvSpPr>
        <p:spPr>
          <a:xfrm>
            <a:off x="1920240" y="4480560"/>
            <a:ext cx="6263640" cy="1975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1993392" y="4517136"/>
            <a:ext cx="6117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V-09｜装置×日付ヒートマップ（補正量RMS）</a:t>
            </a:r>
            <a:endParaRPr lang="en-US" sz="900" dirty="0"/>
          </a:p>
        </p:txBody>
      </p:sp>
      <p:pic>
        <p:nvPicPr>
          <p:cNvPr id="50" name="Image 2" descr="/private/tmp/claude-501/-Users-sakamoto-04---------ClaudeCode-GitHub-PowerBI-LithoBooster-DashBoard/1d2ed9c0-fbf9-4130-80df-0e37d1e3ada0/scratchpad/charts/p4_hea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993392" y="4773168"/>
            <a:ext cx="6117336" cy="1591056"/>
          </a:xfrm>
          <a:prstGeom prst="rect">
            <a:avLst/>
          </a:prstGeom>
        </p:spPr>
      </p:pic>
      <p:sp>
        <p:nvSpPr>
          <p:cNvPr id="51" name="Shape 46"/>
          <p:cNvSpPr/>
          <p:nvPr/>
        </p:nvSpPr>
        <p:spPr>
          <a:xfrm>
            <a:off x="8275320" y="4480560"/>
            <a:ext cx="3566160" cy="1975104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8366760" y="45262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</a:t>
            </a:r>
            <a:endParaRPr lang="en-US" sz="950" dirty="0"/>
          </a:p>
        </p:txBody>
      </p:sp>
      <p:sp>
        <p:nvSpPr>
          <p:cNvPr id="53" name="Text 48"/>
          <p:cNvSpPr/>
          <p:nvPr/>
        </p:nvSpPr>
        <p:spPr>
          <a:xfrm>
            <a:off x="8412480" y="4791456"/>
            <a:ext cx="329184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KPIカードは補正成分ごとにX/Y別で表示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比較軸はフィールドパラメーターで切替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Lotをクリック → P5 俯瞰 / P6 詳細へ</a:t>
            </a:r>
            <a:endParaRPr lang="en-US" sz="950" dirty="0"/>
          </a:p>
        </p:txBody>
      </p:sp>
      <p:sp>
        <p:nvSpPr>
          <p:cNvPr id="54" name="Text 49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補正前Shot配列 俯瞰（Nikon）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Shotごとの補正量から補正前の配列を逆算（V-18）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6949440" cy="553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50976"/>
            <a:ext cx="6803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V-18｜補正前Shot配列（装置別 × OPERATION別の小マルチ、誇張表示）</a:t>
            </a:r>
            <a:endParaRPr lang="en-US" sz="900" dirty="0"/>
          </a:p>
        </p:txBody>
      </p:sp>
      <p:pic>
        <p:nvPicPr>
          <p:cNvPr id="26" name="Image 0" descr="/private/tmp/claude-501/-Users-sakamoto-04---------ClaudeCode-GitHub-PowerBI-LithoBooster-DashBoard/1d2ed9c0-fbf9-4130-80df-0e37d1e3ada0/scratchpad/charts/p5_shotarr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6803136" cy="514807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9006840" y="914400"/>
            <a:ext cx="2834640" cy="233172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098280" y="96012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9144000" y="1225296"/>
            <a:ext cx="256032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Shotごとの補正量（CORRDATA）から補正前のShot配列を逆算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装置×OPERATIONごとに平均から再構成（灰=公称 / 赤=補正前）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気になる装置・Lotを選択 → P6 詳細分析へドリルスルー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9006840" y="3383280"/>
            <a:ext cx="2834640" cy="233172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098280" y="342900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表示仕様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9144000" y="3694176"/>
            <a:ext cx="256032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歪みは誇張表示（倍率は調整可能）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Shot枠とWafer外周円（150mm）を描画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逆算式の符号規約は要確認 → I-009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P6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詳細分析（Nikon）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特定Lot・Waferに絞って詳細確認（V-14/18/28）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29768" y="570585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575157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WAFER選択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4632" y="599846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5BW975B43-01  ▾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920240" y="914400"/>
            <a:ext cx="32461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9339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V-14｜補正点ベクトルマップ（成分切替）</a:t>
            </a:r>
            <a:endParaRPr lang="en-US" sz="900" dirty="0"/>
          </a:p>
        </p:txBody>
      </p:sp>
      <p:pic>
        <p:nvPicPr>
          <p:cNvPr id="29" name="Image 0" descr="/private/tmp/claude-501/-Users-sakamoto-04---------ClaudeCode-GitHub-PowerBI-LithoBooster-DashBoard/1d2ed9c0-fbf9-4130-80df-0e37d1e3ada0/scratchpad/charts/p5_qui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3099816" cy="3730752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5257800" y="914400"/>
            <a:ext cx="32461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3095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V-18｜補正前Shot配列（Wafer単位、誇張表示）</a:t>
            </a:r>
            <a:endParaRPr lang="en-US" sz="900" dirty="0"/>
          </a:p>
        </p:txBody>
      </p:sp>
      <p:pic>
        <p:nvPicPr>
          <p:cNvPr id="32" name="Image 1" descr="/private/tmp/claude-501/-Users-sakamoto-04---------ClaudeCode-GitHub-PowerBI-LithoBooster-DashBoard/1d2ed9c0-fbf9-4130-80df-0e37d1e3ada0/scratchpad/charts/p6_shotarra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30952" y="1207008"/>
            <a:ext cx="3099816" cy="3730752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8595360" y="914400"/>
            <a:ext cx="32461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66851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V-28｜Shot補正成分（線形 + 高次SHOTFACを1つに統合）</a:t>
            </a:r>
            <a:endParaRPr lang="en-US" sz="900" dirty="0"/>
          </a:p>
        </p:txBody>
      </p:sp>
      <p:pic>
        <p:nvPicPr>
          <p:cNvPr id="35" name="Image 2" descr="/private/tmp/claude-501/-Users-sakamoto-04---------ClaudeCode-GitHub-PowerBI-LithoBooster-DashBoard/1d2ed9c0-fbf9-4130-80df-0e37d1e3ada0/scratchpad/charts/p6_linfac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68512" y="1207008"/>
            <a:ext cx="3099816" cy="1993392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8595360" y="3383280"/>
            <a:ext cx="3246120" cy="164592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8686800" y="342900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確認事項</a:t>
            </a:r>
            <a:endParaRPr lang="en-US" sz="950" dirty="0"/>
          </a:p>
        </p:txBody>
      </p:sp>
      <p:sp>
        <p:nvSpPr>
          <p:cNvPr id="38" name="Text 33"/>
          <p:cNvSpPr/>
          <p:nvPr/>
        </p:nvSpPr>
        <p:spPr>
          <a:xfrm>
            <a:off x="8732520" y="3694176"/>
            <a:ext cx="29718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SHOTFAC番号と多項式次数の対応・単位は要確認 → I-002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1920240" y="5166360"/>
            <a:ext cx="9921240" cy="128016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2011680" y="5212080"/>
            <a:ext cx="9738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操作・補足</a:t>
            </a:r>
            <a:endParaRPr lang="en-US" sz="950" dirty="0"/>
          </a:p>
        </p:txBody>
      </p:sp>
      <p:sp>
        <p:nvSpPr>
          <p:cNvPr id="41" name="Text 36"/>
          <p:cNvSpPr/>
          <p:nvPr/>
        </p:nvSpPr>
        <p:spPr>
          <a:xfrm>
            <a:off x="2057400" y="5477256"/>
            <a:ext cx="9646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表示成分（OFSET / SCAL / ROT）はスライサーで切替。矢印の倍率スケールはスライダーで調整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補正前Shot配列の逆算式（符号規約）は装置エンジニアに確認 → I-009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Wafer1枚選択で描画（DirectQuery負荷対策）。Shot枠を描画</a:t>
            </a:r>
            <a:endParaRPr lang="en-US" sz="950" dirty="0"/>
          </a:p>
        </p:txBody>
      </p:sp>
      <p:sp>
        <p:nvSpPr>
          <p:cNvPr id="42" name="Text 37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P7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Shotスタック分析（Canon計測値X/Y）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全ShotをShot座標系に重ねてShot内の系統傾向を把握（V-19/23/21/29）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65836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50976"/>
            <a:ext cx="6437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V-19｜スタック平均ベクトル（全体 / Scan方向1 / Scan方向2）</a:t>
            </a:r>
            <a:endParaRPr lang="en-US" sz="900" dirty="0"/>
          </a:p>
        </p:txBody>
      </p:sp>
      <p:pic>
        <p:nvPicPr>
          <p:cNvPr id="26" name="Image 0" descr="/private/tmp/claude-501/-Users-sakamoto-04---------ClaudeCode-GitHub-PowerBI-LithoBooster-DashBoard/1d2ed9c0-fbf9-4130-80df-0e37d1e3ada0/scratchpad/charts/p7_stack_di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6437376" cy="231343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1920240" y="3703320"/>
            <a:ext cx="65836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993392" y="3739896"/>
            <a:ext cx="6437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V-23｜Mark位置ごとの共分散楕円（全体 / Scan方向1 / Scan方向2）</a:t>
            </a:r>
            <a:endParaRPr lang="en-US" sz="900" dirty="0"/>
          </a:p>
        </p:txBody>
      </p:sp>
      <p:pic>
        <p:nvPicPr>
          <p:cNvPr id="29" name="Image 1" descr="/private/tmp/claude-501/-Users-sakamoto-04---------ClaudeCode-GitHub-PowerBI-LithoBooster-DashBoard/1d2ed9c0-fbf9-4130-80df-0e37d1e3ada0/scratchpad/charts/p7_ellipse_di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993392" y="3995928"/>
            <a:ext cx="6437376" cy="2313432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8595360" y="914400"/>
            <a:ext cx="32461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66851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V-21｜計測値X/YのMark位置別分布</a:t>
            </a:r>
            <a:endParaRPr lang="en-US" sz="900" dirty="0"/>
          </a:p>
        </p:txBody>
      </p:sp>
      <p:pic>
        <p:nvPicPr>
          <p:cNvPr id="32" name="Image 2" descr="/private/tmp/claude-501/-Users-sakamoto-04---------ClaudeCode-GitHub-PowerBI-LithoBooster-DashBoard/1d2ed9c0-fbf9-4130-80df-0e37d1e3ada0/scratchpad/charts/p7_box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68512" y="1207008"/>
            <a:ext cx="3099816" cy="2313432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8595360" y="3703320"/>
            <a:ext cx="32461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8668512" y="373989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V-29｜計測値X/Y分布（全体 / 方向1 / 方向2）</a:t>
            </a:r>
            <a:endParaRPr lang="en-US" sz="900" dirty="0"/>
          </a:p>
        </p:txBody>
      </p:sp>
      <p:pic>
        <p:nvPicPr>
          <p:cNvPr id="35" name="Image 3" descr="/private/tmp/claude-501/-Users-sakamoto-04---------ClaudeCode-GitHub-PowerBI-LithoBooster-DashBoard/1d2ed9c0-fbf9-4130-80df-0e37d1e3ada0/scratchpad/charts/p7_dirbox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668512" y="3995928"/>
            <a:ext cx="3099816" cy="2313432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付録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共分散楕円の読み方（V-22 / V-23）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15214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pic>
        <p:nvPicPr>
          <p:cNvPr id="5" name="Image 0" descr="/private/tmp/claude-501/-Users-sakamoto-04---------ClaudeCode-GitHub-PowerBI-LithoBooster-DashBoard/1d2ed9c0-fbf9-4130-80df-0e37d1e3ada0/scratchpad/charts/legend_ellip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005840"/>
            <a:ext cx="10698480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" y="4160520"/>
            <a:ext cx="3749040" cy="1920240"/>
          </a:xfrm>
          <a:prstGeom prst="roundRect">
            <a:avLst>
              <a:gd name="adj" fmla="val 2857"/>
            </a:avLst>
          </a:prstGeom>
          <a:solidFill>
            <a:srgbClr val="EEF1F7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" y="4297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84632" y="468172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共分散行列の固有値の平方根 × k を長軸・短軸にする（初期値 k = 2、2σ相当）。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Wafer間の分散が大きい位置ほど楕円が大きくなる。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297680" y="4160520"/>
            <a:ext cx="3749040" cy="1920240"/>
          </a:xfrm>
          <a:prstGeom prst="roundRect">
            <a:avLst>
              <a:gd name="adj" fmla="val 2857"/>
            </a:avLst>
          </a:prstGeom>
          <a:solidFill>
            <a:srgbClr val="EEF1F7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62272" y="4297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傾き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462272" y="468172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主軸方向 θ = 0.5 × atan2(2·Cxy, Vx − Vy)。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X/Yの相関の向きに応じて楕円が傾く。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75320" y="4160520"/>
            <a:ext cx="3749040" cy="1920240"/>
          </a:xfrm>
          <a:prstGeom prst="roundRect">
            <a:avLst>
              <a:gd name="adj" fmla="val 2857"/>
            </a:avLst>
          </a:prstGeom>
          <a:solidFill>
            <a:srgbClr val="EEF1F7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39912" y="4297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39912" y="468172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|相関係数 r| = |Cxy| / (σx·σy) をカラースケール（0〜1）に割り当て。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濃い色 = X/Y成分が連動して変動している場所。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" y="621792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分散・共分散はDAXメジャーで算出し、楕円描画はDeneb（Vega-Lite）で行う。Wafer数3枚未満の位置は非表示。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2026-07-05T14:02:06Z</dcterms:created>
  <dcterms:modified xsi:type="dcterms:W3CDTF">2026-07-05T14:02:06Z</dcterms:modified>
</cp:coreProperties>
</file>