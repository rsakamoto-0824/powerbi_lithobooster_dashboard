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LithoBooster ダッシュボード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画面イメージ（モックアップ）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アライメント計測結果とShot補正制御の可視化｜Vertica DirectQuery｜Power BI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547872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66744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俯瞰（Canon）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2784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91656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詳細分析（Canon）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97696" y="379476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16568" y="385876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 俯瞰（Nikon）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547872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66744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詳細分析（Nikon）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72784" y="4754880"/>
            <a:ext cx="2560320" cy="777240"/>
          </a:xfrm>
          <a:prstGeom prst="roundRect">
            <a:avLst>
              <a:gd name="adj" fmla="val 7059"/>
            </a:avLst>
          </a:prstGeom>
          <a:solidFill>
            <a:srgbClr val="27346F"/>
          </a:solidFill>
          <a:ln w="12700">
            <a:solidFill>
              <a:srgbClr val="3D4C8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1656" y="4818888"/>
            <a:ext cx="2331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P7
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" y="6126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グラフはダミーデータによる表示例です（実データではありません）　2026/07/05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P1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カテゴリ別傾向と時系列の早期検知（V-01/04/05/06/07/08/09/10）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16.8 nm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残差RMS X（期間内）</a:t>
            </a:r>
            <a:pPr indent="0" marL="0">
              <a:buNone/>
            </a:pP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425696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98848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15.2 nm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4498848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残差RMS Y（期間内）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931152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04304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26.3 %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7004304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判定=0 比率</a:t>
            </a:r>
            <a:pPr indent="0" marL="0">
              <a:buNone/>
            </a:pPr>
            <a:r>
              <a:rPr lang="en-US" sz="8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▲+1.2pt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436608" y="914400"/>
            <a:ext cx="2395728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509760" y="969264"/>
            <a:ext cx="2249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94 枚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9509760" y="141732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計測Wafer数</a:t>
            </a:r>
            <a:pPr indent="0" marL="0">
              <a:buNone/>
            </a:pP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1920240" y="1901952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93392" y="193852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V-06｜線形成分トレンド（号機別・管理限界線つき）</a:t>
            </a:r>
            <a:endParaRPr lang="en-US" sz="900" dirty="0"/>
          </a:p>
        </p:txBody>
      </p:sp>
      <p:pic>
        <p:nvPicPr>
          <p:cNvPr id="38" name="Image 0" descr="/private/tmp/claude-501/-Users-sakamoto-04---------ClaudeCode-GitHub-PowerBI-LithoBooster-DashBoard/1d2ed9c0-fbf9-4130-80df-0e37d1e3ada0/scratchpad/charts/p1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5705856" cy="190195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7882128" y="1901952"/>
            <a:ext cx="39593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55280" y="193852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V-01｜計測値X/Yの箱ひげ（OPERATION別）</a:t>
            </a:r>
            <a:endParaRPr lang="en-US" sz="900" dirty="0"/>
          </a:p>
        </p:txBody>
      </p:sp>
      <p:pic>
        <p:nvPicPr>
          <p:cNvPr id="41" name="Image 1" descr="/private/tmp/claude-501/-Users-sakamoto-04---------ClaudeCode-GitHub-PowerBI-LithoBooster-DashBoard/1d2ed9c0-fbf9-4130-80df-0e37d1e3ada0/scratchpad/charts/p1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2194560"/>
            <a:ext cx="3813048" cy="1901952"/>
          </a:xfrm>
          <a:prstGeom prst="rect">
            <a:avLst/>
          </a:prstGeom>
        </p:spPr>
      </p:pic>
      <p:sp>
        <p:nvSpPr>
          <p:cNvPr id="42" name="Shape 38"/>
          <p:cNvSpPr/>
          <p:nvPr/>
        </p:nvSpPr>
        <p:spPr>
          <a:xfrm>
            <a:off x="1920240" y="4279392"/>
            <a:ext cx="585216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1993392" y="431596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V-09｜装置×日付ヒートマップ（異常の早期発見）</a:t>
            </a:r>
            <a:endParaRPr lang="en-US" sz="900" dirty="0"/>
          </a:p>
        </p:txBody>
      </p:sp>
      <p:pic>
        <p:nvPicPr>
          <p:cNvPr id="44" name="Image 2" descr="/private/tmp/claude-501/-Users-sakamoto-04---------ClaudeCode-GitHub-PowerBI-LithoBooster-DashBoard/1d2ed9c0-fbf9-4130-80df-0e37d1e3ada0/scratchpad/charts/p1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572000"/>
            <a:ext cx="5705856" cy="1792224"/>
          </a:xfrm>
          <a:prstGeom prst="rect">
            <a:avLst/>
          </a:prstGeom>
        </p:spPr>
      </p:pic>
      <p:sp>
        <p:nvSpPr>
          <p:cNvPr id="45" name="Shape 40"/>
          <p:cNvSpPr/>
          <p:nvPr/>
        </p:nvSpPr>
        <p:spPr>
          <a:xfrm>
            <a:off x="7882128" y="4279392"/>
            <a:ext cx="3959352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7955280" y="431596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V-04｜計測判定のOPERATION別比率</a:t>
            </a:r>
            <a:endParaRPr lang="en-US" sz="900" dirty="0"/>
          </a:p>
        </p:txBody>
      </p:sp>
      <p:pic>
        <p:nvPicPr>
          <p:cNvPr id="47" name="Image 3" descr="/private/tmp/claude-501/-Users-sakamoto-04---------ClaudeCode-GitHub-PowerBI-LithoBooster-DashBoard/1d2ed9c0-fbf9-4130-80df-0e37d1e3ada0/scratchpad/charts/p1_ng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7955280" y="4572000"/>
            <a:ext cx="3813048" cy="1792224"/>
          </a:xfrm>
          <a:prstGeom prst="rect">
            <a:avLst/>
          </a:prstGeom>
        </p:spPr>
      </p:pic>
      <p:sp>
        <p:nvSpPr>
          <p:cNvPr id="48" name="Text 42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P2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平均ベクトル場 俯瞰（Canon）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取得データ全体の平均残差を装置×OPERATIONで比較（V-12）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949440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803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V-12｜平均ベクトル場（装置×OPERATION小マルチ、色=ベクトル長、Shot枠つき）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2_meanfiel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803136" cy="51480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006840" y="914400"/>
            <a:ext cx="2834640" cy="274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98280" y="960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44000" y="1225296"/>
            <a:ext cx="25603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必須フィルター（期間・DEVICE_TYPE・OPERATION）の範囲全体を平均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装置×OPERATIONごとの傾向差を俯瞰で比較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気になるマスを右クリック → P3 詳細分析へドリルスルー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006840" y="3794760"/>
            <a:ext cx="2834640" cy="26517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3840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表示仕様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4105656"/>
            <a:ext cx="256032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矢印の色はベクトルの長さ（カラースケール）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Shot枠とWafer外周円（150mm）を描画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矢印の倍率スケールは調整可能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P3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詳細分析（Canon）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特定Lot・Waferに絞って詳細確認（V-11/25/22/26/03）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5BW975B22-01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301752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V-11｜計測値ベクトルマップ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2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2871216" cy="245059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029200" y="914400"/>
            <a:ext cx="3886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102352" y="950976"/>
            <a:ext cx="37398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V-25｜計測値X/Yヒートマップ（Shot平均）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3_heatx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102352" y="1207008"/>
            <a:ext cx="3739896" cy="245059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9006840" y="914400"/>
            <a:ext cx="2834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9079992" y="950976"/>
            <a:ext cx="2688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V-22｜面内共分散楕円マップ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2_ellip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079992" y="1207008"/>
            <a:ext cx="2688336" cy="24505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1920240" y="3840480"/>
            <a:ext cx="30175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1993392" y="3877056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V-26｜補正前Shot配列（SEPA+SAMEから逆算）</a:t>
            </a:r>
            <a:endParaRPr lang="en-US" sz="900" dirty="0"/>
          </a:p>
        </p:txBody>
      </p:sp>
      <p:pic>
        <p:nvPicPr>
          <p:cNvPr id="38" name="Image 3" descr="/private/tmp/claude-501/-Users-sakamoto-04---------ClaudeCode-GitHub-PowerBI-LithoBooster-DashBoard/1d2ed9c0-fbf9-4130-80df-0e37d1e3ada0/scratchpad/charts/p3_shotarra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993392" y="4133088"/>
            <a:ext cx="2871216" cy="2221992"/>
          </a:xfrm>
          <a:prstGeom prst="rect">
            <a:avLst/>
          </a:prstGeom>
        </p:spPr>
      </p:pic>
      <p:sp>
        <p:nvSpPr>
          <p:cNvPr id="39" name="Shape 33"/>
          <p:cNvSpPr/>
          <p:nvPr/>
        </p:nvSpPr>
        <p:spPr>
          <a:xfrm>
            <a:off x="5029200" y="3840480"/>
            <a:ext cx="68122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5102352" y="3877056"/>
            <a:ext cx="6665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V-03｜Shotごとの補正値6種（SEPA / SAME別）</a:t>
            </a:r>
            <a:endParaRPr lang="en-US" sz="900" dirty="0"/>
          </a:p>
        </p:txBody>
      </p:sp>
      <p:pic>
        <p:nvPicPr>
          <p:cNvPr id="41" name="Image 4" descr="/private/tmp/claude-501/-Users-sakamoto-04---------ClaudeCode-GitHub-PowerBI-LithoBooster-DashBoard/1d2ed9c0-fbf9-4130-80df-0e37d1e3ada0/scratchpad/charts/p3_corr6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102352" y="4133088"/>
            <a:ext cx="6665976" cy="2221992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P4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サマリー / トレンド（Nikon）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 / Shot線形成分の傾向と早期検知（V-02/05/06/08/09/10）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14.9 nm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993392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OFSETX RMS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584448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0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13.6 nm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3657600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OFSETY RMS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248656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21808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0.48 ppm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321808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SCALX 平均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912864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86016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0.41 ppm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986016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SCALY 平均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577072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50224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0.52 µrad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650224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ROTX 平均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10241280" y="914400"/>
            <a:ext cx="1600200" cy="841248"/>
          </a:xfrm>
          <a:prstGeom prst="roundRect">
            <a:avLst>
              <a:gd name="adj" fmla="val 5435"/>
            </a:avLst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314432" y="969264"/>
            <a:ext cx="14721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0.47 µrad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314432" y="1417320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ROTY 平均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920240" y="1901952"/>
            <a:ext cx="58521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93392" y="193852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V-06｜Wafer線形成分トレンド（号機別・管理限界線つき）</a:t>
            </a:r>
            <a:endParaRPr lang="en-US" sz="900" dirty="0"/>
          </a:p>
        </p:txBody>
      </p:sp>
      <p:pic>
        <p:nvPicPr>
          <p:cNvPr id="44" name="Image 0" descr="/private/tmp/claude-501/-Users-sakamoto-04---------ClaudeCode-GitHub-PowerBI-LithoBooster-DashBoard/1d2ed9c0-fbf9-4130-80df-0e37d1e3ada0/scratchpad/charts/p4_tre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2194560"/>
            <a:ext cx="5705856" cy="1901952"/>
          </a:xfrm>
          <a:prstGeom prst="rect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7882128" y="1901952"/>
            <a:ext cx="395935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955280" y="1938528"/>
            <a:ext cx="3813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V-02｜補正量X/Yの箱ひげ（OPERATION別）</a:t>
            </a:r>
            <a:endParaRPr lang="en-US" sz="900" dirty="0"/>
          </a:p>
        </p:txBody>
      </p:sp>
      <p:pic>
        <p:nvPicPr>
          <p:cNvPr id="47" name="Image 1" descr="/private/tmp/claude-501/-Users-sakamoto-04---------ClaudeCode-GitHub-PowerBI-LithoBooster-DashBoard/1d2ed9c0-fbf9-4130-80df-0e37d1e3ada0/scratchpad/charts/p4_box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955280" y="2194560"/>
            <a:ext cx="3813048" cy="1901952"/>
          </a:xfrm>
          <a:prstGeom prst="rect">
            <a:avLst/>
          </a:prstGeom>
        </p:spPr>
      </p:pic>
      <p:sp>
        <p:nvSpPr>
          <p:cNvPr id="48" name="Shape 44"/>
          <p:cNvSpPr/>
          <p:nvPr/>
        </p:nvSpPr>
        <p:spPr>
          <a:xfrm>
            <a:off x="1920240" y="4279392"/>
            <a:ext cx="585216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1993392" y="4315968"/>
            <a:ext cx="57058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V-09｜装置×日付ヒートマップ（補正量RMS）</a:t>
            </a:r>
            <a:endParaRPr lang="en-US" sz="900" dirty="0"/>
          </a:p>
        </p:txBody>
      </p:sp>
      <p:pic>
        <p:nvPicPr>
          <p:cNvPr id="50" name="Image 2" descr="/private/tmp/claude-501/-Users-sakamoto-04---------ClaudeCode-GitHub-PowerBI-LithoBooster-DashBoard/1d2ed9c0-fbf9-4130-80df-0e37d1e3ada0/scratchpad/charts/p4_hea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993392" y="4572000"/>
            <a:ext cx="5705856" cy="1792224"/>
          </a:xfrm>
          <a:prstGeom prst="rect">
            <a:avLst/>
          </a:prstGeom>
        </p:spPr>
      </p:pic>
      <p:sp>
        <p:nvSpPr>
          <p:cNvPr id="51" name="Shape 46"/>
          <p:cNvSpPr/>
          <p:nvPr/>
        </p:nvSpPr>
        <p:spPr>
          <a:xfrm>
            <a:off x="7882128" y="4279392"/>
            <a:ext cx="3959352" cy="2176272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7973568" y="4325112"/>
            <a:ext cx="3776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</a:t>
            </a:r>
            <a:endParaRPr lang="en-US" sz="950" dirty="0"/>
          </a:p>
        </p:txBody>
      </p:sp>
      <p:sp>
        <p:nvSpPr>
          <p:cNvPr id="53" name="Text 48"/>
          <p:cNvSpPr/>
          <p:nvPr/>
        </p:nvSpPr>
        <p:spPr>
          <a:xfrm>
            <a:off x="8019288" y="4590288"/>
            <a:ext cx="3685032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KPIカードは補正成分ごとにX/Y別で表示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比較軸はフィールドパラメーターで切替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Lotをクリック → P5 俯瞰 / P6 詳細へ</a:t>
            </a:r>
            <a:endParaRPr lang="en-US" sz="950" dirty="0"/>
          </a:p>
        </p:txBody>
      </p:sp>
      <p:sp>
        <p:nvSpPr>
          <p:cNvPr id="54" name="Text 49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P5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 俯瞰（Nikon）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Shotごとの補正量から補正前の配列を逆算（V-18）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6949440" cy="5532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6803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V-18｜補正前Shot配列（CORRDATAから逆算、誇張表示）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5_shotarr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6803136" cy="514807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9006840" y="914400"/>
            <a:ext cx="2834640" cy="274320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098280" y="96012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使い方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9144000" y="1225296"/>
            <a:ext cx="25603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Shotごとの補正量（CORRDATA）から補正前のShot配列を逆算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取得データ全体の平均から再構成（灰=公称格子 / 赤=補正前）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気になる装置・Lotを選択 → P6 詳細分析へドリルスルー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9006840" y="3794760"/>
            <a:ext cx="2834640" cy="26517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098280" y="3840480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表示仕様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9144000" y="4105656"/>
            <a:ext cx="256032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歪みは誇張表示（倍率は調整可能）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Shot枠とWafer外周円（150mm）を描画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逆算式の符号規約は要確認 → I-009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P6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詳細分析（Nikon）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特定Lot・Waferに絞って詳細確認（V-14/18/21）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29768" y="570585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" y="575157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WAFER選択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" y="599846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5BW975B43-01  ▾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92024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99339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V-14｜補正点ベクトルマップ（成分切替）</a:t>
            </a:r>
            <a:endParaRPr lang="en-US" sz="900" dirty="0"/>
          </a:p>
        </p:txBody>
      </p:sp>
      <p:pic>
        <p:nvPicPr>
          <p:cNvPr id="29" name="Image 0" descr="/private/tmp/claude-501/-Users-sakamoto-04---------ClaudeCode-GitHub-PowerBI-LithoBooster-DashBoard/1d2ed9c0-fbf9-4130-80df-0e37d1e3ada0/scratchpad/charts/p5_quiv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99816" cy="3273552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257800" y="914400"/>
            <a:ext cx="3246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095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V-18｜補正前Shot配列（Wafer単位、誇張表示）</a:t>
            </a:r>
            <a:endParaRPr lang="en-US" sz="900" dirty="0"/>
          </a:p>
        </p:txBody>
      </p:sp>
      <p:pic>
        <p:nvPicPr>
          <p:cNvPr id="32" name="Image 1" descr="/private/tmp/claude-501/-Users-sakamoto-04---------ClaudeCode-GitHub-PowerBI-LithoBooster-DashBoard/1d2ed9c0-fbf9-4130-80df-0e37d1e3ada0/scratchpad/charts/p6_shotarra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330952" y="1207008"/>
            <a:ext cx="3099816" cy="3273552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8595360" y="914400"/>
            <a:ext cx="324612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8668512" y="950976"/>
            <a:ext cx="3099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V-21｜SHOTFAC係数の大きさ比較</a:t>
            </a:r>
            <a:endParaRPr lang="en-US" sz="900" dirty="0"/>
          </a:p>
        </p:txBody>
      </p:sp>
      <p:pic>
        <p:nvPicPr>
          <p:cNvPr id="35" name="Image 2" descr="/private/tmp/claude-501/-Users-sakamoto-04---------ClaudeCode-GitHub-PowerBI-LithoBooster-DashBoard/1d2ed9c0-fbf9-4130-80df-0e37d1e3ada0/scratchpad/charts/p5_fac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68512" y="1207008"/>
            <a:ext cx="3099816" cy="1993392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8595360" y="3383280"/>
            <a:ext cx="3246120" cy="118872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686800" y="342900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確認事項</a:t>
            </a:r>
            <a:endParaRPr lang="en-US" sz="950" dirty="0"/>
          </a:p>
        </p:txBody>
      </p:sp>
      <p:sp>
        <p:nvSpPr>
          <p:cNvPr id="38" name="Text 33"/>
          <p:cNvSpPr/>
          <p:nvPr/>
        </p:nvSpPr>
        <p:spPr>
          <a:xfrm>
            <a:off x="8732520" y="3694176"/>
            <a:ext cx="2971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SHOTFAC番号と多項式次数の対応・単位は要確認 → I-002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1920240" y="4709160"/>
            <a:ext cx="9921240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2011680" y="4754880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操作・補足</a:t>
            </a:r>
            <a:endParaRPr lang="en-US" sz="950" dirty="0"/>
          </a:p>
        </p:txBody>
      </p:sp>
      <p:sp>
        <p:nvSpPr>
          <p:cNvPr id="41" name="Text 36"/>
          <p:cNvSpPr/>
          <p:nvPr/>
        </p:nvSpPr>
        <p:spPr>
          <a:xfrm>
            <a:off x="2057400" y="5020056"/>
            <a:ext cx="964692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表示成分（OFSET / SCAL / ROT）はスライサーで切替。矢印の倍率スケールはスライダーで調整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補正前Shot配列の逆算式（符号規約）は装置エンジニアに確認 → I-009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Wafer1枚選択で描画（DirectQuery負荷対策）。Shot枠を描画</a:t>
            </a:r>
            <a:endParaRPr lang="en-US" sz="950" dirty="0"/>
          </a:p>
        </p:txBody>
      </p:sp>
      <p:sp>
        <p:nvSpPr>
          <p:cNvPr id="42" name="Text 37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P7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Shotスタック分析（Canon計測値X/Y）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全ShotをShot座標系に重ねてShot内の系統傾向を把握（V-19/23/21）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777240"/>
            <a:ext cx="1481328" cy="5669280"/>
          </a:xfrm>
          <a:prstGeom prst="roundRect">
            <a:avLst>
              <a:gd name="adj" fmla="val 3086"/>
            </a:avLst>
          </a:prstGeom>
          <a:solidFill>
            <a:srgbClr val="EEF1F7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8686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フィルター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29768" y="120700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5272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84632" y="149961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6/28 – 7/4  ▾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956816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" y="2002536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DEVICE_TYPE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84632" y="2249424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AADE058_01.00  ▾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2706624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" y="275234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装置（EQPID）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" y="2999232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9768" y="3456432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" y="350215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</a:t>
            </a:r>
            <a:pPr indent="0" marL="0">
              <a:buNone/>
            </a:pPr>
            <a:r>
              <a:rPr lang="en-US" sz="75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必須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84632" y="374904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RDH-MLF  ▾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9768" y="4206240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" y="425196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LOT_ID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84632" y="4498848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9768" y="4956048"/>
            <a:ext cx="1261872" cy="65836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9525">
            <a:solidFill>
              <a:srgbClr val="D5DA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" y="50017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WAFER_ID</a:t>
            </a:r>
            <a:pPr indent="0" marL="0">
              <a:buNone/>
            </a:pPr>
            <a:r>
              <a:rPr lang="en-US" sz="750" dirty="0">
                <a:solidFill>
                  <a:srgbClr val="9AA3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 任意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4632" y="5248656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すべて  ▾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920240" y="914400"/>
            <a:ext cx="3200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993392" y="950976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V-19｜スタック平均ベクトル（Shot内の指紋）</a:t>
            </a:r>
            <a:endParaRPr lang="en-US" sz="900" dirty="0"/>
          </a:p>
        </p:txBody>
      </p:sp>
      <p:pic>
        <p:nvPicPr>
          <p:cNvPr id="26" name="Image 0" descr="/private/tmp/claude-501/-Users-sakamoto-04---------ClaudeCode-GitHub-PowerBI-LithoBooster-DashBoard/1d2ed9c0-fbf9-4130-80df-0e37d1e3ada0/scratchpad/charts/p6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93392" y="1207008"/>
            <a:ext cx="3054096" cy="327355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5212080" y="914400"/>
            <a:ext cx="352044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285232" y="950976"/>
            <a:ext cx="33741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V-23｜Mark位置ごとの共分散楕円</a:t>
            </a:r>
            <a:endParaRPr lang="en-US" sz="900" dirty="0"/>
          </a:p>
        </p:txBody>
      </p:sp>
      <p:pic>
        <p:nvPicPr>
          <p:cNvPr id="29" name="Image 1" descr="/private/tmp/claude-501/-Users-sakamoto-04---------ClaudeCode-GitHub-PowerBI-LithoBooster-DashBoard/1d2ed9c0-fbf9-4130-80df-0e37d1e3ada0/scratchpad/charts/p6_ellips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85232" y="1207008"/>
            <a:ext cx="3374136" cy="3273552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823960" y="914400"/>
            <a:ext cx="30175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897112" y="950976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V-21｜計測値X/YのMark位置別分布</a:t>
            </a:r>
            <a:endParaRPr lang="en-US" sz="900" dirty="0"/>
          </a:p>
        </p:txBody>
      </p:sp>
      <p:pic>
        <p:nvPicPr>
          <p:cNvPr id="32" name="Image 2" descr="/private/tmp/claude-501/-Users-sakamoto-04---------ClaudeCode-GitHub-PowerBI-LithoBooster-DashBoard/1d2ed9c0-fbf9-4130-80df-0e37d1e3ada0/scratchpad/charts/p7_box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97112" y="1207008"/>
            <a:ext cx="2871216" cy="3273552"/>
          </a:xfrm>
          <a:prstGeom prst="rect">
            <a:avLst/>
          </a:prstGeom>
        </p:spPr>
      </p:pic>
      <p:sp>
        <p:nvSpPr>
          <p:cNvPr id="33" name="Shape 28"/>
          <p:cNvSpPr/>
          <p:nvPr/>
        </p:nvSpPr>
        <p:spPr>
          <a:xfrm>
            <a:off x="1920240" y="4709160"/>
            <a:ext cx="9921240" cy="1737360"/>
          </a:xfrm>
          <a:prstGeom prst="rect">
            <a:avLst/>
          </a:prstGeom>
          <a:solidFill>
            <a:srgbClr val="F7F9FC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2011680" y="4754880"/>
            <a:ext cx="9738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スタックの定義と楕円の見方</a:t>
            </a:r>
            <a:endParaRPr lang="en-US" sz="950" dirty="0"/>
          </a:p>
        </p:txBody>
      </p:sp>
      <p:sp>
        <p:nvSpPr>
          <p:cNvPr id="35" name="Text 30"/>
          <p:cNvSpPr/>
          <p:nvPr/>
        </p:nvSpPr>
        <p:spPr>
          <a:xfrm>
            <a:off x="2057400" y="5020056"/>
            <a:ext cx="9646920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対象はCanonビューの計測値X/Y。全Shot・全WaferのMark計測値をShot中心原点の座標系に重ね、Mark位置ごとに集計（Wafer平均を差し引き）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V-23の楕円: サイズ=分散（固有値√×k）、傾き=X/Y相関の向き、色=|相関係数|。V-22と同じ規則</a:t>
            </a:r>
            <a:endParaRPr lang="en-US" sz="950" dirty="0"/>
          </a:p>
          <a:p>
            <a:pPr marL="101600" indent="-101600">
              <a:lnSpc>
                <a:spcPct val="145000"/>
              </a:lnSpc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OPERATIONによりShotサイズ・Mark数（RDH: 4点 / MSR: 6点）が異なるため、OPERATION絞り込みは必須</a:t>
            </a:r>
            <a:endParaRPr lang="en-US" sz="950" dirty="0"/>
          </a:p>
        </p:txBody>
      </p:sp>
      <p:sp>
        <p:nvSpPr>
          <p:cNvPr id="36" name="Text 31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0972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24A5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付録　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共分散楕円の読み方（V-22 / V-23）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0" y="164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15214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5"/>
            </a:solidFill>
            <a:prstDash val="solid"/>
          </a:ln>
        </p:spPr>
      </p:sp>
      <p:pic>
        <p:nvPicPr>
          <p:cNvPr id="5" name="Image 0" descr="/private/tmp/claude-501/-Users-sakamoto-04---------ClaudeCode-GitHub-PowerBI-LithoBooster-DashBoard/1d2ed9c0-fbf9-4130-80df-0e37d1e3ada0/scratchpad/charts/legend_ellip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005840"/>
            <a:ext cx="10698480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2004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8463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共分散行列の固有値の平方根 × k を長軸・短軸にする（初期値 k = 2、2σ相当）。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Wafer間の分散が大きい位置ほど楕円が大きくなる。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9768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6227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傾き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6227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主軸方向 θ = 0.5 × atan2(2·Cxy, Vx − Vy)。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X/Yの相関の向きに応じて楕円が傾く。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8275320" y="4160520"/>
            <a:ext cx="3749040" cy="1920240"/>
          </a:xfrm>
          <a:prstGeom prst="roundRect">
            <a:avLst>
              <a:gd name="adj" fmla="val 2857"/>
            </a:avLst>
          </a:prstGeom>
          <a:solidFill>
            <a:srgbClr val="EEF1F7"/>
          </a:solidFill>
          <a:ln w="12700">
            <a:solidFill>
              <a:srgbClr val="D5DA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39912" y="42976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439912" y="4681728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|相関係数 r| = |Cxy| / (σx·σy) をカラースケール（0〜1）に割り当て。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濃い色 = X/Y成分が連動して変動している場所。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65760" y="6217920"/>
            <a:ext cx="1143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分散・共分散はDAXメジャーで算出し、楕円描画はDeneb（Vega-Lite）で行う。Wafer数3枚未満の位置は非表示。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0" y="65288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画面イメージ（ダミーデータによるモックアップ）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2026-07-05T13:24:51Z</dcterms:created>
  <dcterms:modified xsi:type="dcterms:W3CDTF">2026-07-05T13:24:51Z</dcterms:modified>
</cp:coreProperties>
</file>