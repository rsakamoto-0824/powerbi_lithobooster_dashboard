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LithoBooster ダッシュボード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画面イメージ（モックアップ）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アライメント計測結果とShot補正制御の可視化｜Vertica DirectQuery｜Power BI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47872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66744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俯瞰（Canon）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2784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1656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詳細分析（Canon）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97696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16568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俯瞰（Nikon）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47872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66744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詳細分析（Nikon）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72784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1656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P7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グラフはダミーデータによる表示例です（実データではありません）　2026/07/05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カテゴリ別傾向と時系列の早期検知（V-01/04/05/06/07/08/09/10）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16.8 nm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残差RMS X（期間内）</a:t>
            </a:r>
            <a:pPr indent="0" marL="0">
              <a:buNone/>
            </a:pP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25696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15.2 nm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498848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残差RMS Y（期間内）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931152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04304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26.3 %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7004304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判定=0 比率</a:t>
            </a:r>
            <a:pPr indent="0" marL="0">
              <a:buNone/>
            </a:pPr>
            <a:r>
              <a:rPr lang="en-US" sz="8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▲+1.2pt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436608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0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94 枚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509760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計測Wafer数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920240" y="1901952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193852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V-06｜線形成分トレンド（号機別・管理限界線つき）</a:t>
            </a:r>
            <a:endParaRPr lang="en-US" sz="900" dirty="0"/>
          </a:p>
        </p:txBody>
      </p:sp>
      <p:pic>
        <p:nvPicPr>
          <p:cNvPr id="38" name="Image 0" descr="/private/tmp/claude-501/-Users-sakamoto-04---------ClaudeCode-GitHub-PowerBI-LithoBooster-DashBoard/1d2ed9c0-fbf9-4130-80df-0e37d1e3ada0/scratchpad/charts/p1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5705856" cy="190195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7882128" y="1901952"/>
            <a:ext cx="39593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55280" y="193852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V-01｜残差RMSの号機別分布（比較軸切替）</a:t>
            </a:r>
            <a:endParaRPr lang="en-US" sz="900" dirty="0"/>
          </a:p>
        </p:txBody>
      </p:sp>
      <p:pic>
        <p:nvPicPr>
          <p:cNvPr id="41" name="Image 1" descr="/private/tmp/claude-501/-Users-sakamoto-04---------ClaudeCode-GitHub-PowerBI-LithoBooster-DashBoard/1d2ed9c0-fbf9-4130-80df-0e37d1e3ada0/scratchpad/charts/p1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2194560"/>
            <a:ext cx="3813048" cy="1901952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1920240" y="4279392"/>
            <a:ext cx="585216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1993392" y="431596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V-09｜装置×日付ヒートマップ（異常の早期発見）</a:t>
            </a:r>
            <a:endParaRPr lang="en-US" sz="900" dirty="0"/>
          </a:p>
        </p:txBody>
      </p:sp>
      <p:pic>
        <p:nvPicPr>
          <p:cNvPr id="44" name="Image 2" descr="/private/tmp/claude-501/-Users-sakamoto-04---------ClaudeCode-GitHub-PowerBI-LithoBooster-DashBoard/1d2ed9c0-fbf9-4130-80df-0e37d1e3ada0/scratchpad/charts/p1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572000"/>
            <a:ext cx="5705856" cy="1792224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7882128" y="4279392"/>
            <a:ext cx="3959352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955280" y="431596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V-04｜計測判定のOPERATION別比率</a:t>
            </a:r>
            <a:endParaRPr lang="en-US" sz="900" dirty="0"/>
          </a:p>
        </p:txBody>
      </p:sp>
      <p:pic>
        <p:nvPicPr>
          <p:cNvPr id="47" name="Image 3" descr="/private/tmp/claude-501/-Users-sakamoto-04---------ClaudeCode-GitHub-PowerBI-LithoBooster-DashBoard/1d2ed9c0-fbf9-4130-80df-0e37d1e3ada0/scratchpad/charts/p1_ng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955280" y="4572000"/>
            <a:ext cx="3813048" cy="1792224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取得データ全体の平均残差を装置×OPERATIONで比較（V-12）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949440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803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V-12｜平均ベクトル場（装置別 × OPERATION別の小マルチ、Shot枠つき）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2_meanfie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803136" cy="51480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006840" y="914400"/>
            <a:ext cx="2834640" cy="274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98280" y="960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44000" y="1225296"/>
            <a:ext cx="25603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必須フィルター（期間・DEVICE_TYPE・OPERATION）の範囲全体を平均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装置×OPERATIONごとの傾向差を俯瞰で比較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気になるマスを右クリック → P3 詳細分析へドリルスルー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006840" y="3794760"/>
            <a:ext cx="2834640" cy="26517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3840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表示仕様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4105656"/>
            <a:ext cx="256032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Shot枠とWafer外周円（150mm）を描画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矢印の倍率スケールは調整可能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装置は任意フィルター（絞れば単独表示）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特定Lot・Waferに絞って詳細確認（V-11/13/22/16/03/17）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5BW975B22-01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32461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V-11｜残差ベクトルマップ（1Wafer）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2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99816" cy="245059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257800" y="914400"/>
            <a:ext cx="32461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095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V-13｜Shot単位 残差RMSヒートマップ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2_rm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30952" y="1207008"/>
            <a:ext cx="3099816" cy="245059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8595360" y="914400"/>
            <a:ext cx="32461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V-22｜面内共分散楕円マップ（Wafer間ばらつき）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2_ellip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24505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1920240" y="3840480"/>
            <a:ext cx="42976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1993392" y="3877056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V-16｜補正前（想定）/ 補正後（実測）の切替</a:t>
            </a:r>
            <a:endParaRPr lang="en-US" sz="900" dirty="0"/>
          </a:p>
        </p:txBody>
      </p:sp>
      <p:pic>
        <p:nvPicPr>
          <p:cNvPr id="38" name="Image 3" descr="/private/tmp/claude-501/-Users-sakamoto-04---------ClaudeCode-GitHub-PowerBI-LithoBooster-DashBoard/1d2ed9c0-fbf9-4130-80df-0e37d1e3ada0/scratchpad/charts/p3_prepos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93392" y="4133088"/>
            <a:ext cx="4151376" cy="2221992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6309360" y="3840480"/>
            <a:ext cx="2926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382512" y="3877056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V-03｜Shot補正量（SEPA / SAME）</a:t>
            </a:r>
            <a:endParaRPr lang="en-US" sz="900" dirty="0"/>
          </a:p>
        </p:txBody>
      </p:sp>
      <p:pic>
        <p:nvPicPr>
          <p:cNvPr id="41" name="Image 4" descr="/private/tmp/claude-501/-Users-sakamoto-04---------ClaudeCode-GitHub-PowerBI-LithoBooster-DashBoard/1d2ed9c0-fbf9-4130-80df-0e37d1e3ada0/scratchpad/charts/p3_bar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82512" y="4133088"/>
            <a:ext cx="2779776" cy="2221992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9326880" y="3840480"/>
            <a:ext cx="25146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9400032" y="3877056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V-17｜補正効果（前後RMS）</a:t>
            </a:r>
            <a:endParaRPr lang="en-US" sz="900" dirty="0"/>
          </a:p>
        </p:txBody>
      </p:sp>
      <p:pic>
        <p:nvPicPr>
          <p:cNvPr id="44" name="Image 5" descr="/private/tmp/claude-501/-Users-sakamoto-04---------ClaudeCode-GitHub-PowerBI-LithoBooster-DashBoard/1d2ed9c0-fbf9-4130-80df-0e37d1e3ada0/scratchpad/charts/p3_effect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400032" y="4133088"/>
            <a:ext cx="2368296" cy="2221992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 / Shot線形成分の傾向と早期検知（V-02/05/06/08/09/10）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14.9 nm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OFSETX RMS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584448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0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13.6 nm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657600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OFSETY RMS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248656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21808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0.48 ppm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321808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SCALX 平均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912864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86016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0.41 ppm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986016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SCALY 平均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577072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0224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0.52 µrad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650224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ROTX 平均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0241280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14432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0.47 µrad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314432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ROTY 平均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920240" y="1901952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93392" y="193852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V-06｜Wafer線形成分トレンド（号機別・管理限界線つき）</a:t>
            </a:r>
            <a:endParaRPr lang="en-US" sz="900" dirty="0"/>
          </a:p>
        </p:txBody>
      </p:sp>
      <p:pic>
        <p:nvPicPr>
          <p:cNvPr id="44" name="Image 0" descr="/private/tmp/claude-501/-Users-sakamoto-04---------ClaudeCode-GitHub-PowerBI-LithoBooster-DashBoard/1d2ed9c0-fbf9-4130-80df-0e37d1e3ada0/scratchpad/charts/p4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5705856" cy="1901952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7882128" y="1901952"/>
            <a:ext cx="39593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955280" y="193852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V-02｜線形成分の号機別分布（比較軸切替）</a:t>
            </a:r>
            <a:endParaRPr lang="en-US" sz="900" dirty="0"/>
          </a:p>
        </p:txBody>
      </p:sp>
      <p:pic>
        <p:nvPicPr>
          <p:cNvPr id="47" name="Image 1" descr="/private/tmp/claude-501/-Users-sakamoto-04---------ClaudeCode-GitHub-PowerBI-LithoBooster-DashBoard/1d2ed9c0-fbf9-4130-80df-0e37d1e3ada0/scratchpad/charts/p4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2194560"/>
            <a:ext cx="3813048" cy="1901952"/>
          </a:xfrm>
          <a:prstGeom prst="rect">
            <a:avLst/>
          </a:prstGeom>
        </p:spPr>
      </p:pic>
      <p:sp>
        <p:nvSpPr>
          <p:cNvPr id="48" name="Shape 44"/>
          <p:cNvSpPr/>
          <p:nvPr/>
        </p:nvSpPr>
        <p:spPr>
          <a:xfrm>
            <a:off x="1920240" y="4279392"/>
            <a:ext cx="585216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1993392" y="431596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V-09｜装置×日付ヒートマップ（補正量RMS）</a:t>
            </a:r>
            <a:endParaRPr lang="en-US" sz="900" dirty="0"/>
          </a:p>
        </p:txBody>
      </p:sp>
      <p:pic>
        <p:nvPicPr>
          <p:cNvPr id="50" name="Image 2" descr="/private/tmp/claude-501/-Users-sakamoto-04---------ClaudeCode-GitHub-PowerBI-LithoBooster-DashBoard/1d2ed9c0-fbf9-4130-80df-0e37d1e3ada0/scratchpad/charts/p4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572000"/>
            <a:ext cx="5705856" cy="1792224"/>
          </a:xfrm>
          <a:prstGeom prst="rect">
            <a:avLst/>
          </a:prstGeom>
        </p:spPr>
      </p:pic>
      <p:sp>
        <p:nvSpPr>
          <p:cNvPr id="51" name="Shape 46"/>
          <p:cNvSpPr/>
          <p:nvPr/>
        </p:nvSpPr>
        <p:spPr>
          <a:xfrm>
            <a:off x="7882128" y="4279392"/>
            <a:ext cx="3959352" cy="2176272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973568" y="4325112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</a:t>
            </a:r>
            <a:endParaRPr lang="en-US" sz="950" dirty="0"/>
          </a:p>
        </p:txBody>
      </p:sp>
      <p:sp>
        <p:nvSpPr>
          <p:cNvPr id="53" name="Text 48"/>
          <p:cNvSpPr/>
          <p:nvPr/>
        </p:nvSpPr>
        <p:spPr>
          <a:xfrm>
            <a:off x="8019288" y="4590288"/>
            <a:ext cx="368503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KPIカードは補正成分ごとにX/Y別で表示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比較軸はフィールドパラメーターで切替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Lotをクリック → P5 俯瞰 / P6 詳細へ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補正点の平均ベクトルを装置×OPERATIONで比較（V-24）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949440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803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V-24｜平均補正ベクトル場（装置別 × OPERATION別の小マルチ、Shot枠つき）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5_meanfie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803136" cy="51480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006840" y="914400"/>
            <a:ext cx="2834640" cy="274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98280" y="960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44000" y="1225296"/>
            <a:ext cx="25603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CORRDATA_OFSETX/Yの平均ベクトルを補正点位置ごとに表示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装置×OPERATIONごとの補正傾向を俯瞰比較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気になるマスを右クリック → P6 詳細分析へドリルスルー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006840" y="3794760"/>
            <a:ext cx="2834640" cy="26517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3840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表示仕様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4105656"/>
            <a:ext cx="256032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Shot枠とWafer外周円（150mm）を描画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表示成分（OFSET / SCAL / ROT）は切替可能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特定Lot・Waferに絞って詳細確認（V-14/18/21）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5BW975B43-01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V-14｜補正点ベクトルマップ（成分切替）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5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99816" cy="327355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25780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095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V-18｜補正前想定マップ（線形+CORRDATA再構成）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5_p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30952" y="1207008"/>
            <a:ext cx="3099816" cy="327355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8595360" y="914400"/>
            <a:ext cx="32461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V-21｜SHOTFAC係数の大きさ比較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5_fac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19933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8595360" y="3383280"/>
            <a:ext cx="3246120" cy="1188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686800" y="342900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確認事項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8732520" y="3694176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SHOTFAC番号と多項式次数の対応・単位は要確認 → I-002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920240" y="4709160"/>
            <a:ext cx="9921240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2011680" y="4754880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操作・補足</a:t>
            </a:r>
            <a:endParaRPr lang="en-US" sz="950" dirty="0"/>
          </a:p>
        </p:txBody>
      </p:sp>
      <p:sp>
        <p:nvSpPr>
          <p:cNvPr id="41" name="Text 36"/>
          <p:cNvSpPr/>
          <p:nvPr/>
        </p:nvSpPr>
        <p:spPr>
          <a:xfrm>
            <a:off x="2057400" y="5020056"/>
            <a:ext cx="964692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表示成分（OFSET / SCAL / ROT）はスライサーで切替。矢印の倍率スケールはスライダーで調整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V-18の再構成式（CORRDATA適用の符号）は装置エンジニアに確認 → I-009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Wafer1枚選択で描画（DirectQuery負荷対策）。Shot枠を描画</a:t>
            </a:r>
            <a:endParaRPr lang="en-US" sz="950" dirty="0"/>
          </a:p>
        </p:txBody>
      </p:sp>
      <p:sp>
        <p:nvSpPr>
          <p:cNvPr id="42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P7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全ShotをShot座標系に重ねてShot内の系統傾向を把握（V-19/21/23）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3200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V-19｜スタック平均ベクトル（Shot内の指紋）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6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54096" cy="327355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5212080" y="91440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950976"/>
            <a:ext cx="3374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V-23｜Mark位置ごとの共分散楕円</a:t>
            </a:r>
            <a:endParaRPr lang="en-US" sz="900" dirty="0"/>
          </a:p>
        </p:txBody>
      </p:sp>
      <p:pic>
        <p:nvPicPr>
          <p:cNvPr id="29" name="Image 1" descr="/private/tmp/claude-501/-Users-sakamoto-04---------ClaudeCode-GitHub-PowerBI-LithoBooster-DashBoard/1d2ed9c0-fbf9-4130-80df-0e37d1e3ada0/scratchpad/charts/p6_ellips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85232" y="1207008"/>
            <a:ext cx="3374136" cy="327355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823960" y="914400"/>
            <a:ext cx="3017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897112" y="950976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V-21｜Shot成分の再構成（倍率+回転）</a:t>
            </a:r>
            <a:endParaRPr lang="en-US" sz="900" dirty="0"/>
          </a:p>
        </p:txBody>
      </p:sp>
      <p:pic>
        <p:nvPicPr>
          <p:cNvPr id="32" name="Image 2" descr="/private/tmp/claude-501/-Users-sakamoto-04---------ClaudeCode-GitHub-PowerBI-LithoBooster-DashBoard/1d2ed9c0-fbf9-4130-80df-0e37d1e3ada0/scratchpad/charts/p6_shotcomp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97112" y="1207008"/>
            <a:ext cx="2871216" cy="3273552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1920240" y="4709160"/>
            <a:ext cx="9921240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2011680" y="4754880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スタックの定義と楕円の見方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2057400" y="5020056"/>
            <a:ext cx="964692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スタック: 全Shot・全WaferのMark残差をShot中心原点の座標系に重ね、Mark位置ごとに集計（Wafer平均を差し引き）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V-23の楕円: サイズ=分散（固有値√×k）、傾き=X/Y相関の向き、色=|相関係数|。V-22と同じ規則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OPERATIONによりShotサイズ・Mark数（RDH: 4点 / MSR: 6点）が異なるため、OPERATION絞り込みは必須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付録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共分散楕円の読み方（V-22 / V-23）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1521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pic>
        <p:nvPicPr>
          <p:cNvPr id="5" name="Image 0" descr="/private/tmp/claude-501/-Users-sakamoto-04---------ClaudeCode-GitHub-PowerBI-LithoBooster-DashBoard/1d2ed9c0-fbf9-4130-80df-0e37d1e3ada0/scratchpad/charts/legend_ellip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005840"/>
            <a:ext cx="1069848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共分散行列の固有値の平方根 × k を長軸・短軸にする（初期値 k = 2、2σ相当）。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Wafer間の分散が大きい位置ほど楕円が大きくなる。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9768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227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傾き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6227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主軸方向 θ = 0.5 × atan2(2·Cxy, Vx − Vy)。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X/Yの相関の向きに応じて楕円が傾く。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7532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3991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3991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|相関係数 r| = |Cxy| / (σx·σy) をカラースケール（0〜1）に割り当て。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濃い色 = X/Y成分が連動して変動している場所。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62179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分散・共分散はDAXメジャーで算出し、楕円描画はDeneb（Vega-Lite）で行う。Wafer数3枚未満の位置は非表示。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2026-07-05T11:18:17Z</dcterms:created>
  <dcterms:modified xsi:type="dcterms:W3CDTF">2026-07-05T11:18:17Z</dcterms:modified>
</cp:coreProperties>
</file>